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34"/>
  </p:notesMasterIdLst>
  <p:sldIdLst>
    <p:sldId id="256" r:id="rId2"/>
    <p:sldId id="257" r:id="rId3"/>
    <p:sldId id="533" r:id="rId4"/>
    <p:sldId id="570" r:id="rId5"/>
    <p:sldId id="582" r:id="rId6"/>
    <p:sldId id="535" r:id="rId7"/>
    <p:sldId id="536" r:id="rId8"/>
    <p:sldId id="537" r:id="rId9"/>
    <p:sldId id="583" r:id="rId10"/>
    <p:sldId id="580" r:id="rId11"/>
    <p:sldId id="579" r:id="rId12"/>
    <p:sldId id="538" r:id="rId13"/>
    <p:sldId id="581" r:id="rId14"/>
    <p:sldId id="571" r:id="rId15"/>
    <p:sldId id="518" r:id="rId16"/>
    <p:sldId id="577" r:id="rId17"/>
    <p:sldId id="519" r:id="rId18"/>
    <p:sldId id="578" r:id="rId19"/>
    <p:sldId id="573" r:id="rId20"/>
    <p:sldId id="520" r:id="rId21"/>
    <p:sldId id="521" r:id="rId22"/>
    <p:sldId id="522" r:id="rId23"/>
    <p:sldId id="523" r:id="rId24"/>
    <p:sldId id="548" r:id="rId25"/>
    <p:sldId id="584" r:id="rId26"/>
    <p:sldId id="585" r:id="rId27"/>
    <p:sldId id="586" r:id="rId28"/>
    <p:sldId id="587" r:id="rId29"/>
    <p:sldId id="588" r:id="rId30"/>
    <p:sldId id="589" r:id="rId31"/>
    <p:sldId id="590" r:id="rId32"/>
    <p:sldId id="370" r:id="rId3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015" autoAdjust="0"/>
    <p:restoredTop sz="94660"/>
  </p:normalViewPr>
  <p:slideViewPr>
    <p:cSldViewPr showGuides="1">
      <p:cViewPr varScale="1">
        <p:scale>
          <a:sx n="82" d="100"/>
          <a:sy n="82" d="100"/>
        </p:scale>
        <p:origin x="950" y="72"/>
      </p:cViewPr>
      <p:guideLst>
        <p:guide orient="horz" pos="2880"/>
        <p:guide pos="21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3BDFC27-25DD-40A5-8378-01AC1A9975D1}" type="datetimeFigureOut">
              <a:rPr lang="en-IN" smtClean="0"/>
              <a:t>20-04-2026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84374F4-2032-43FF-ABD6-671E69ACD760}" type="slidenum">
              <a:rPr lang="en-IN" smtClean="0"/>
              <a:t>‹#›</a:t>
            </a:fld>
            <a:endParaRPr lang="en-IN"/>
          </a:p>
        </p:txBody>
      </p:sp>
    </p:spTree>
    <p:extLst>
      <p:ext uri="{BB962C8B-B14F-4D97-AF65-F5344CB8AC3E}">
        <p14:creationId xmlns:p14="http://schemas.microsoft.com/office/powerpoint/2010/main" val="119298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1140" y="233171"/>
            <a:ext cx="8681719" cy="732155"/>
          </a:xfrm>
          <a:prstGeom prst="rect">
            <a:avLst/>
          </a:prstGeom>
        </p:spPr>
        <p:txBody>
          <a:bodyPr wrap="square" lIns="0" tIns="0" rIns="0" bIns="0">
            <a:spAutoFit/>
          </a:bodyPr>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2000" b="0" i="0">
                <a:solidFill>
                  <a:srgbClr val="001F5F"/>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22000" y="1153054"/>
            <a:ext cx="8100000" cy="594000"/>
          </a:xfrm>
        </p:spPr>
        <p:txBody>
          <a:bodyPr lIns="0" tIns="0" rIns="0" bIns="0"/>
          <a:lstStyle>
            <a:lvl1pPr algn="l" fontAlgn="base">
              <a:defRPr sz="2400">
                <a:solidFill>
                  <a:schemeClr val="tx1">
                    <a:lumMod val="85000"/>
                    <a:lumOff val="15000"/>
                  </a:schemeClr>
                </a:solidFill>
                <a:latin typeface="+mj-lt"/>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4007" y="70103"/>
            <a:ext cx="9013190" cy="6693534"/>
          </a:xfrm>
          <a:custGeom>
            <a:avLst/>
            <a:gdLst/>
            <a:ahLst/>
            <a:cxnLst/>
            <a:rect l="l" t="t" r="r" b="b"/>
            <a:pathLst>
              <a:path w="9013190"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2990" y="0"/>
                </a:lnTo>
                <a:lnTo>
                  <a:pt x="8731751" y="3576"/>
                </a:lnTo>
                <a:lnTo>
                  <a:pt x="8778290" y="13967"/>
                </a:lnTo>
                <a:lnTo>
                  <a:pt x="8822095" y="30662"/>
                </a:lnTo>
                <a:lnTo>
                  <a:pt x="8862658" y="53151"/>
                </a:lnTo>
                <a:lnTo>
                  <a:pt x="8899467" y="80923"/>
                </a:lnTo>
                <a:lnTo>
                  <a:pt x="8932012" y="113468"/>
                </a:lnTo>
                <a:lnTo>
                  <a:pt x="8959784" y="150277"/>
                </a:lnTo>
                <a:lnTo>
                  <a:pt x="8982273" y="190840"/>
                </a:lnTo>
                <a:lnTo>
                  <a:pt x="8998968" y="234645"/>
                </a:lnTo>
                <a:lnTo>
                  <a:pt x="9009359" y="281184"/>
                </a:lnTo>
                <a:lnTo>
                  <a:pt x="9012936" y="329946"/>
                </a:lnTo>
                <a:lnTo>
                  <a:pt x="9012936" y="6363487"/>
                </a:lnTo>
                <a:lnTo>
                  <a:pt x="9009359" y="6412239"/>
                </a:lnTo>
                <a:lnTo>
                  <a:pt x="8998968" y="6458771"/>
                </a:lnTo>
                <a:lnTo>
                  <a:pt x="8982273" y="6502571"/>
                </a:lnTo>
                <a:lnTo>
                  <a:pt x="8959784" y="6543130"/>
                </a:lnTo>
                <a:lnTo>
                  <a:pt x="8932012" y="6579937"/>
                </a:lnTo>
                <a:lnTo>
                  <a:pt x="8899467" y="6612482"/>
                </a:lnTo>
                <a:lnTo>
                  <a:pt x="8862658" y="6640254"/>
                </a:lnTo>
                <a:lnTo>
                  <a:pt x="8822095" y="6662742"/>
                </a:lnTo>
                <a:lnTo>
                  <a:pt x="8778290" y="6679438"/>
                </a:lnTo>
                <a:lnTo>
                  <a:pt x="8731751" y="6689829"/>
                </a:lnTo>
                <a:lnTo>
                  <a:pt x="8682990" y="6693406"/>
                </a:lnTo>
                <a:lnTo>
                  <a:pt x="329920" y="6693406"/>
                </a:lnTo>
                <a:lnTo>
                  <a:pt x="281168" y="6689829"/>
                </a:lnTo>
                <a:lnTo>
                  <a:pt x="234636" y="6679438"/>
                </a:lnTo>
                <a:lnTo>
                  <a:pt x="190835" y="6662742"/>
                </a:lnTo>
                <a:lnTo>
                  <a:pt x="150276" y="6640254"/>
                </a:lnTo>
                <a:lnTo>
                  <a:pt x="113469" y="6612482"/>
                </a:lnTo>
                <a:lnTo>
                  <a:pt x="80925" y="6579937"/>
                </a:lnTo>
                <a:lnTo>
                  <a:pt x="53153" y="6543130"/>
                </a:lnTo>
                <a:lnTo>
                  <a:pt x="30664" y="6502571"/>
                </a:lnTo>
                <a:lnTo>
                  <a:pt x="13968" y="6458771"/>
                </a:lnTo>
                <a:lnTo>
                  <a:pt x="3577" y="6412239"/>
                </a:lnTo>
                <a:lnTo>
                  <a:pt x="0" y="6363487"/>
                </a:lnTo>
                <a:lnTo>
                  <a:pt x="0" y="329946"/>
                </a:lnTo>
                <a:close/>
              </a:path>
            </a:pathLst>
          </a:custGeom>
          <a:ln w="6096">
            <a:solidFill>
              <a:srgbClr val="000000"/>
            </a:solidFill>
          </a:ln>
        </p:spPr>
        <p:txBody>
          <a:bodyPr wrap="square" lIns="0" tIns="0" rIns="0" bIns="0" rtlCol="0"/>
          <a:lstStyle/>
          <a:p>
            <a:endParaRPr/>
          </a:p>
        </p:txBody>
      </p:sp>
      <p:sp>
        <p:nvSpPr>
          <p:cNvPr id="2" name="Holder 2"/>
          <p:cNvSpPr>
            <a:spLocks noGrp="1"/>
          </p:cNvSpPr>
          <p:nvPr>
            <p:ph type="title"/>
          </p:nvPr>
        </p:nvSpPr>
        <p:spPr>
          <a:xfrm>
            <a:off x="231140" y="99948"/>
            <a:ext cx="8681719" cy="731519"/>
          </a:xfrm>
          <a:prstGeom prst="rect">
            <a:avLst/>
          </a:prstGeom>
        </p:spPr>
        <p:txBody>
          <a:bodyPr wrap="square" lIns="0" tIns="0" rIns="0" bIns="0">
            <a:spAutoFit/>
          </a:bodyPr>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262534" y="1485138"/>
            <a:ext cx="8531860" cy="4509135"/>
          </a:xfrm>
          <a:prstGeom prst="rect">
            <a:avLst/>
          </a:prstGeom>
        </p:spPr>
        <p:txBody>
          <a:bodyPr wrap="square" lIns="0" tIns="0" rIns="0" bIns="0">
            <a:spAutoFit/>
          </a:bodyPr>
          <a:lstStyle>
            <a:lvl1pPr>
              <a:defRPr sz="2000" b="0" i="0">
                <a:solidFill>
                  <a:srgbClr val="001F5F"/>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337460"/>
            <a:ext cx="8464655" cy="2169825"/>
          </a:xfrm>
          <a:prstGeom prst="rect">
            <a:avLst/>
          </a:prstGeom>
          <a:noFill/>
        </p:spPr>
        <p:txBody>
          <a:bodyPr vert="horz" wrap="square" lIns="0" tIns="0" rIns="0" bIns="0" rtlCol="0">
            <a:spAutoFit/>
          </a:bodyPr>
          <a:lstStyle/>
          <a:p>
            <a:pPr marL="12065" marR="5080" algn="ctr"/>
            <a:r>
              <a:rPr lang="en-IN" u="none" dirty="0"/>
              <a:t>Design And Development of Drinking Water Quality alert System With Voice Announcement for Remote Areas</a:t>
            </a:r>
            <a:br>
              <a:rPr lang="en-IN" u="none" dirty="0"/>
            </a:br>
            <a:br>
              <a:rPr lang="en-US" sz="3200" dirty="0"/>
            </a:br>
            <a:br>
              <a:rPr lang="en-US" sz="3200" dirty="0"/>
            </a:br>
            <a:endParaRPr lang="en-US" sz="2900" dirty="0">
              <a:latin typeface="Times New Roman" panose="02020603050405020304"/>
              <a:cs typeface="Times New Roman" panose="02020603050405020304"/>
            </a:endParaRPr>
          </a:p>
        </p:txBody>
      </p:sp>
      <p:sp>
        <p:nvSpPr>
          <p:cNvPr id="3" name="object 3"/>
          <p:cNvSpPr txBox="1"/>
          <p:nvPr/>
        </p:nvSpPr>
        <p:spPr>
          <a:xfrm>
            <a:off x="2743200" y="2261162"/>
            <a:ext cx="4726940" cy="1923604"/>
          </a:xfrm>
          <a:prstGeom prst="rect">
            <a:avLst/>
          </a:prstGeom>
        </p:spPr>
        <p:txBody>
          <a:bodyPr vert="horz" wrap="square" lIns="0" tIns="0" rIns="0" bIns="0" rtlCol="0" anchor="t">
            <a:spAutoFit/>
          </a:bodyPr>
          <a:lstStyle/>
          <a:p>
            <a:pPr marR="31750" algn="ctr">
              <a:lnSpc>
                <a:spcPct val="100000"/>
              </a:lnSpc>
            </a:pPr>
            <a:endParaRPr sz="2000" dirty="0">
              <a:latin typeface="Perpetua" panose="02020502060401020303"/>
              <a:cs typeface="Perpetua" panose="02020502060401020303"/>
            </a:endParaRPr>
          </a:p>
          <a:p>
            <a:pPr marL="145415" marR="176530" indent="-1270" algn="just">
              <a:lnSpc>
                <a:spcPct val="105000"/>
              </a:lnSpc>
            </a:pPr>
            <a:r>
              <a:rPr lang="en-IN" altLang="en-US" sz="2000" b="1" spc="-10" dirty="0">
                <a:solidFill>
                  <a:srgbClr val="FF0000"/>
                </a:solidFill>
                <a:latin typeface="Times New Roman" panose="02020603050405020304" pitchFamily="18" charset="0"/>
                <a:cs typeface="Times New Roman" panose="02020603050405020304" pitchFamily="18" charset="0"/>
              </a:rPr>
              <a:t>                     </a:t>
            </a:r>
            <a:r>
              <a:rPr lang="en-IN" altLang="en-US" sz="2000" b="1" spc="-10" dirty="0">
                <a:solidFill>
                  <a:schemeClr val="tx1"/>
                </a:solidFill>
                <a:latin typeface="Times New Roman" panose="02020603050405020304" pitchFamily="18" charset="0"/>
                <a:cs typeface="Times New Roman" panose="02020603050405020304" pitchFamily="18" charset="0"/>
              </a:rPr>
              <a:t>   BY</a:t>
            </a:r>
            <a:endParaRPr lang="en-IN" altLang="en-US" sz="2000" b="1" spc="-10" dirty="0">
              <a:solidFill>
                <a:srgbClr val="FF0000"/>
              </a:solidFill>
              <a:latin typeface="Times New Roman" panose="02020603050405020304" pitchFamily="18" charset="0"/>
              <a:cs typeface="Times New Roman" panose="02020603050405020304" pitchFamily="18" charset="0"/>
            </a:endParaRPr>
          </a:p>
          <a:p>
            <a:pPr marL="145415" marR="176530" indent="-1270" algn="just">
              <a:lnSpc>
                <a:spcPct val="105000"/>
              </a:lnSpc>
            </a:pPr>
            <a:r>
              <a:rPr lang="en-US" sz="2000" b="1" spc="-10" dirty="0">
                <a:solidFill>
                  <a:srgbClr val="FF0000"/>
                </a:solidFill>
                <a:latin typeface="Times New Roman" panose="02020603050405020304" pitchFamily="18" charset="0"/>
                <a:cs typeface="Times New Roman" panose="02020603050405020304" pitchFamily="18" charset="0"/>
              </a:rPr>
              <a:t>2211CS050001  - Haresh kumar</a:t>
            </a:r>
          </a:p>
          <a:p>
            <a:pPr marL="145415" marR="176530" indent="-1270" algn="just">
              <a:lnSpc>
                <a:spcPct val="105000"/>
              </a:lnSpc>
            </a:pPr>
            <a:r>
              <a:rPr lang="en-US" sz="2000" b="1" spc="-10" dirty="0">
                <a:solidFill>
                  <a:srgbClr val="FF0000"/>
                </a:solidFill>
                <a:latin typeface="Times New Roman" panose="02020603050405020304" pitchFamily="18" charset="0"/>
                <a:cs typeface="Times New Roman" panose="02020603050405020304" pitchFamily="18" charset="0"/>
                <a:sym typeface="+mn-ea"/>
              </a:rPr>
              <a:t>2211CS0500</a:t>
            </a:r>
            <a:r>
              <a:rPr lang="en-IN" sz="2000" b="1" spc="-10" dirty="0">
                <a:solidFill>
                  <a:srgbClr val="FF0000"/>
                </a:solidFill>
                <a:latin typeface="Times New Roman" panose="02020603050405020304" pitchFamily="18" charset="0"/>
                <a:cs typeface="Times New Roman" panose="02020603050405020304" pitchFamily="18" charset="0"/>
                <a:sym typeface="+mn-ea"/>
              </a:rPr>
              <a:t>15</a:t>
            </a:r>
            <a:r>
              <a:rPr lang="en-IN" altLang="en-US" sz="2000" b="1" spc="-10" dirty="0">
                <a:solidFill>
                  <a:srgbClr val="FF0000"/>
                </a:solidFill>
                <a:latin typeface="Times New Roman" panose="02020603050405020304" pitchFamily="18" charset="0"/>
                <a:cs typeface="Times New Roman" panose="02020603050405020304" pitchFamily="18" charset="0"/>
                <a:sym typeface="+mn-ea"/>
              </a:rPr>
              <a:t>  -Bharath kumar</a:t>
            </a:r>
          </a:p>
          <a:p>
            <a:pPr marL="145415" marR="176530" indent="-1270" algn="just">
              <a:lnSpc>
                <a:spcPct val="105000"/>
              </a:lnSpc>
            </a:pPr>
            <a:r>
              <a:rPr lang="en-IN" sz="2000" b="1" spc="-10" dirty="0">
                <a:solidFill>
                  <a:srgbClr val="FF0000"/>
                </a:solidFill>
                <a:latin typeface="Times New Roman" panose="02020603050405020304" pitchFamily="18" charset="0"/>
                <a:cs typeface="Times New Roman" panose="02020603050405020304" pitchFamily="18" charset="0"/>
                <a:sym typeface="+mn-ea"/>
              </a:rPr>
              <a:t>2211CS050028  - Ganga Reddy</a:t>
            </a:r>
            <a:endParaRPr lang="en-US" sz="2000" b="1" spc="-10" dirty="0">
              <a:solidFill>
                <a:srgbClr val="FF0000"/>
              </a:solidFill>
              <a:latin typeface="Times New Roman" panose="02020603050405020304" pitchFamily="18" charset="0"/>
              <a:cs typeface="Times New Roman" panose="02020603050405020304" pitchFamily="18" charset="0"/>
            </a:endParaRPr>
          </a:p>
          <a:p>
            <a:pPr marL="145415" marR="176530" indent="-1270" algn="ctr">
              <a:lnSpc>
                <a:spcPct val="105000"/>
              </a:lnSpc>
            </a:pPr>
            <a:endParaRPr lang="en-US" sz="2000" b="1" spc="-10" dirty="0">
              <a:solidFill>
                <a:srgbClr val="FF000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2853846" y="4020931"/>
            <a:ext cx="3564890" cy="1590179"/>
          </a:xfrm>
          <a:prstGeom prst="rect">
            <a:avLst/>
          </a:prstGeom>
        </p:spPr>
        <p:txBody>
          <a:bodyPr vert="horz" wrap="square" lIns="0" tIns="0" rIns="0" bIns="0" rtlCol="0">
            <a:spAutoFit/>
          </a:bodyPr>
          <a:lstStyle/>
          <a:p>
            <a:pPr marL="12700" algn="ctr">
              <a:spcBef>
                <a:spcPts val="120"/>
              </a:spcBef>
            </a:pPr>
            <a:r>
              <a:rPr lang="en-US" sz="2000" b="1" dirty="0">
                <a:latin typeface="Times New Roman" panose="02020603050405020304" pitchFamily="18" charset="0"/>
                <a:cs typeface="Times New Roman" panose="02020603050405020304" pitchFamily="18" charset="0"/>
              </a:rPr>
              <a:t>Under </a:t>
            </a:r>
            <a:r>
              <a:rPr lang="en-US" sz="2000" b="1" spc="-5" dirty="0">
                <a:latin typeface="Times New Roman" panose="02020603050405020304" pitchFamily="18" charset="0"/>
                <a:cs typeface="Times New Roman" panose="02020603050405020304" pitchFamily="18" charset="0"/>
              </a:rPr>
              <a:t>the guidanc</a:t>
            </a:r>
            <a:r>
              <a:rPr lang="en-US" sz="2000" b="1" dirty="0">
                <a:latin typeface="Times New Roman" panose="02020603050405020304" pitchFamily="18" charset="0"/>
                <a:cs typeface="Times New Roman" panose="02020603050405020304" pitchFamily="18" charset="0"/>
              </a:rPr>
              <a:t>e</a:t>
            </a:r>
            <a:r>
              <a:rPr lang="en-US" sz="2000" b="1" spc="-10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of</a:t>
            </a:r>
          </a:p>
          <a:p>
            <a:pPr marL="12700" algn="ctr">
              <a:spcBef>
                <a:spcPts val="120"/>
              </a:spcBef>
            </a:pPr>
            <a:r>
              <a:rPr lang="en-US" sz="2000" b="1" spc="-40" dirty="0">
                <a:solidFill>
                  <a:srgbClr val="FF0000"/>
                </a:solidFill>
                <a:cs typeface="Arial" panose="020B0604020202020204" pitchFamily="34" charset="0"/>
              </a:rPr>
              <a:t>Dr. </a:t>
            </a:r>
            <a:r>
              <a:rPr lang="en-US" sz="2000" b="1" spc="-40" dirty="0" err="1">
                <a:solidFill>
                  <a:srgbClr val="FF0000"/>
                </a:solidFill>
                <a:cs typeface="Arial" panose="020B0604020202020204" pitchFamily="34" charset="0"/>
              </a:rPr>
              <a:t>ome</a:t>
            </a:r>
            <a:r>
              <a:rPr lang="en-US" sz="2000" b="1" spc="-40" dirty="0">
                <a:solidFill>
                  <a:srgbClr val="FF0000"/>
                </a:solidFill>
                <a:cs typeface="Arial" panose="020B0604020202020204" pitchFamily="34" charset="0"/>
              </a:rPr>
              <a:t> </a:t>
            </a:r>
            <a:r>
              <a:rPr lang="en-US" sz="2000" b="1" spc="-40" dirty="0" err="1">
                <a:solidFill>
                  <a:srgbClr val="FF0000"/>
                </a:solidFill>
                <a:cs typeface="Arial" panose="020B0604020202020204" pitchFamily="34" charset="0"/>
              </a:rPr>
              <a:t>neralla</a:t>
            </a:r>
            <a:endParaRPr lang="en-IN" sz="2000" b="1" spc="-40" dirty="0">
              <a:solidFill>
                <a:srgbClr val="FF0000"/>
              </a:solidFill>
              <a:latin typeface="Times New Roman" panose="02020603050405020304" pitchFamily="18" charset="0"/>
              <a:cs typeface="Times New Roman" panose="02020603050405020304" pitchFamily="18" charset="0"/>
            </a:endParaRPr>
          </a:p>
          <a:p>
            <a:pPr marL="12700" algn="ctr">
              <a:spcBef>
                <a:spcPts val="120"/>
              </a:spcBef>
            </a:pPr>
            <a:r>
              <a:rPr lang="en-US" sz="2000" b="1" spc="-40" dirty="0">
                <a:solidFill>
                  <a:srgbClr val="FF0000"/>
                </a:solidFill>
                <a:cs typeface="Arial" panose="020B0604020202020204" pitchFamily="34" charset="0"/>
              </a:rPr>
              <a:t>Assistant Professor</a:t>
            </a:r>
          </a:p>
          <a:p>
            <a:pPr marL="12700" algn="ctr">
              <a:lnSpc>
                <a:spcPct val="100000"/>
              </a:lnSpc>
              <a:spcBef>
                <a:spcPts val="120"/>
              </a:spcBef>
            </a:pPr>
            <a:endParaRPr sz="2000" dirty="0">
              <a:latin typeface="Perpetua" panose="02020502060401020303"/>
              <a:cs typeface="Perpetua" panose="02020502060401020303"/>
            </a:endParaRPr>
          </a:p>
          <a:p>
            <a:pPr marL="12700" algn="ctr">
              <a:lnSpc>
                <a:spcPct val="100000"/>
              </a:lnSpc>
              <a:spcBef>
                <a:spcPts val="120"/>
              </a:spcBef>
            </a:pPr>
            <a:endParaRPr lang="en-IN" sz="2000" spc="-5" dirty="0">
              <a:solidFill>
                <a:srgbClr val="FF0000"/>
              </a:solidFill>
              <a:latin typeface="Perpetua" panose="02020502060401020303"/>
              <a:cs typeface="Perpetua" panose="02020502060401020303"/>
            </a:endParaRPr>
          </a:p>
        </p:txBody>
      </p:sp>
      <p:sp>
        <p:nvSpPr>
          <p:cNvPr id="6" name="object 6"/>
          <p:cNvSpPr txBox="1"/>
          <p:nvPr/>
        </p:nvSpPr>
        <p:spPr>
          <a:xfrm>
            <a:off x="1572831" y="5105004"/>
            <a:ext cx="6379337" cy="1196418"/>
          </a:xfrm>
          <a:prstGeom prst="rect">
            <a:avLst/>
          </a:prstGeom>
        </p:spPr>
        <p:txBody>
          <a:bodyPr vert="horz" wrap="square" lIns="0" tIns="0" rIns="0" bIns="0" rtlCol="0">
            <a:spAutoFit/>
          </a:bodyPr>
          <a:lstStyle/>
          <a:p>
            <a:pPr marL="12700" marR="5080" indent="-635" algn="ctr">
              <a:lnSpc>
                <a:spcPct val="105000"/>
              </a:lnSpc>
            </a:pPr>
            <a:r>
              <a:rPr lang="en-IN" sz="18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Department of </a:t>
            </a:r>
            <a:r>
              <a:rPr lang="en-IN"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Internet of Things(IOT)</a:t>
            </a:r>
            <a:r>
              <a:rPr lang="en-IN" sz="18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p>
          <a:p>
            <a:pPr marL="12700" marR="5080" indent="-635" algn="ctr">
              <a:lnSpc>
                <a:spcPct val="105000"/>
              </a:lnSpc>
            </a:pPr>
            <a:r>
              <a:rPr lang="en-IN" sz="18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School of Engineering</a:t>
            </a:r>
          </a:p>
          <a:p>
            <a:pPr marL="12700" marR="5080" indent="-635" algn="ctr">
              <a:lnSpc>
                <a:spcPct val="105000"/>
              </a:lnSpc>
            </a:pPr>
            <a:r>
              <a:rPr lang="en-US" sz="2000" b="1" spc="-15" dirty="0" err="1">
                <a:solidFill>
                  <a:srgbClr val="0004A1"/>
                </a:solidFill>
                <a:latin typeface="Times New Roman" panose="02020603050405020304" pitchFamily="18" charset="0"/>
                <a:ea typeface="Tahoma" panose="020B0604030504040204" pitchFamily="34" charset="0"/>
                <a:cs typeface="Times New Roman" panose="02020603050405020304" pitchFamily="18" charset="0"/>
              </a:rPr>
              <a:t>Malla</a:t>
            </a:r>
            <a:r>
              <a:rPr lang="en-US" sz="2000" b="1" spc="-1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Reddy University</a:t>
            </a:r>
          </a:p>
          <a:p>
            <a:pPr marL="12700" marR="5080" indent="-635" algn="ctr">
              <a:lnSpc>
                <a:spcPct val="105000"/>
              </a:lnSpc>
            </a:pPr>
            <a:r>
              <a:rPr lang="en-US" sz="20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Hyderabad</a:t>
            </a:r>
            <a:r>
              <a:rPr sz="20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r>
              <a:rPr lang="en-IN" sz="2000" b="1" spc="-70"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Telangana</a:t>
            </a:r>
            <a:r>
              <a:rPr sz="2000" b="1" spc="-70"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a:t>
            </a:r>
            <a:r>
              <a:rPr sz="2000" b="1" spc="-30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r>
              <a:rPr lang="en-US" sz="2000" b="1" spc="-30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r>
              <a:rPr sz="20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INDIA</a:t>
            </a:r>
            <a:endParaRPr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4785967"/>
            <a:ext cx="1752600" cy="1680722"/>
          </a:xfrm>
          <a:prstGeom prst="rect">
            <a:avLst/>
          </a:prstGeom>
        </p:spPr>
      </p:pic>
      <p:pic>
        <p:nvPicPr>
          <p:cNvPr id="1026" name="Picture 2" descr="https://media.canva.com/v2/image-resize/format:PNG/height:201/quality:100/uri:s3%3A%2F%2Fmedia-private.canva.com%2FvWIZw%2FMAFlf_vWIZw%2F1%2Fp.png/watermark:F/width:1600?csig=AAAAAAAAAAAAAAAAAAAAAOO0poUFc-afTA0CQmZiJvOZB6_12u11zCO9oHkSofRN&amp;exp=1729982540&amp;osig=AAAAAAAAAAAAAAAAAAAAANVNAz9occglj2lrEBpLpT5_6REmdsrPkSJPDyyQcByx&amp;signer=media-rpc&amp;x-canva-quality=screen_2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33051"/>
            <a:ext cx="7596183" cy="957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152400"/>
            <a:ext cx="8681719" cy="717504"/>
          </a:xfrm>
          <a:prstGeom prst="rect">
            <a:avLst/>
          </a:prstGeom>
        </p:spPr>
        <p:txBody>
          <a:bodyPr vert="horz" wrap="square" lIns="0" tIns="283845" rIns="0" bIns="0" rtlCol="0">
            <a:spAutoFit/>
          </a:bodyPr>
          <a:lstStyle/>
          <a:p>
            <a:pPr marL="241300">
              <a:lnSpc>
                <a:spcPct val="100000"/>
              </a:lnSpc>
            </a:pPr>
            <a:r>
              <a:rPr sz="2800" u="none" spc="-5" dirty="0"/>
              <a:t>Contents</a:t>
            </a:r>
            <a:r>
              <a:rPr lang="en-IN" sz="2800" u="none" spc="-5" dirty="0"/>
              <a:t> :</a:t>
            </a:r>
            <a:endParaRPr sz="2800" u="none" dirty="0"/>
          </a:p>
        </p:txBody>
      </p:sp>
      <p:sp>
        <p:nvSpPr>
          <p:cNvPr id="4" name="object 3"/>
          <p:cNvSpPr txBox="1"/>
          <p:nvPr/>
        </p:nvSpPr>
        <p:spPr>
          <a:xfrm>
            <a:off x="495299" y="914400"/>
            <a:ext cx="8153400" cy="5201424"/>
          </a:xfrm>
          <a:prstGeom prst="rect">
            <a:avLst/>
          </a:prstGeom>
        </p:spPr>
        <p:txBody>
          <a:bodyPr vert="horz" wrap="square" lIns="0" tIns="0" rIns="0" bIns="0" rtlCol="0">
            <a:spAutoFit/>
          </a:bodyPr>
          <a:lstStyle/>
          <a:p>
            <a:pPr marL="12700">
              <a:lnSpc>
                <a:spcPct val="100000"/>
              </a:lnSpc>
              <a:tabLst>
                <a:tab pos="512445" algn="l"/>
              </a:tabLst>
            </a:pPr>
            <a:r>
              <a:rPr lang="en-IN" sz="4400" dirty="0" err="1">
                <a:solidFill>
                  <a:srgbClr val="D24717"/>
                </a:solidFill>
                <a:latin typeface="Times New Roman" panose="02020603050405020304"/>
                <a:cs typeface="Times New Roman" panose="02020603050405020304"/>
              </a:rPr>
              <a:t>i</a:t>
            </a:r>
            <a:r>
              <a:rPr lang="en-IN" sz="4400" dirty="0">
                <a:solidFill>
                  <a:srgbClr val="D24717"/>
                </a:solidFill>
                <a:latin typeface="Times New Roman" panose="02020603050405020304"/>
                <a:cs typeface="Times New Roman" panose="02020603050405020304"/>
              </a:rPr>
              <a:t>	</a:t>
            </a:r>
            <a:r>
              <a:rPr lang="en-IN" sz="4400" dirty="0">
                <a:solidFill>
                  <a:schemeClr val="tx1"/>
                </a:solidFill>
                <a:latin typeface="Times New Roman" panose="02020603050405020304"/>
                <a:cs typeface="Times New Roman" panose="02020603050405020304"/>
              </a:rPr>
              <a:t>Abstract</a:t>
            </a:r>
            <a:endParaRPr lang="en-IN" sz="4400" dirty="0">
              <a:solidFill>
                <a:srgbClr val="002060"/>
              </a:solidFill>
              <a:latin typeface="Times New Roman" panose="02020603050405020304"/>
              <a:cs typeface="Times New Roman" panose="02020603050405020304"/>
            </a:endParaRPr>
          </a:p>
          <a:p>
            <a:pPr marL="469265" indent="-456565">
              <a:lnSpc>
                <a:spcPct val="100000"/>
              </a:lnSpc>
              <a:spcBef>
                <a:spcPts val="600"/>
              </a:spcBef>
              <a:buClr>
                <a:srgbClr val="D24717"/>
              </a:buClr>
              <a:buSzPct val="85000"/>
              <a:buAutoNum type="arabicPeriod"/>
              <a:tabLst>
                <a:tab pos="469265" algn="l"/>
                <a:tab pos="469900" algn="l"/>
              </a:tabLst>
            </a:pPr>
            <a:r>
              <a:rPr lang="en-IN" sz="4400" dirty="0">
                <a:solidFill>
                  <a:schemeClr val="tx1"/>
                </a:solidFill>
                <a:latin typeface="Times New Roman" panose="02020603050405020304"/>
                <a:cs typeface="Times New Roman" panose="02020603050405020304"/>
              </a:rPr>
              <a:t>Introduction</a:t>
            </a:r>
          </a:p>
          <a:p>
            <a:pPr marL="469265" indent="-456565">
              <a:lnSpc>
                <a:spcPct val="100000"/>
              </a:lnSpc>
              <a:spcBef>
                <a:spcPts val="600"/>
              </a:spcBef>
              <a:buClr>
                <a:srgbClr val="D24717"/>
              </a:buClr>
              <a:buSzPct val="85000"/>
              <a:buAutoNum type="arabicPeriod"/>
              <a:tabLst>
                <a:tab pos="469265" algn="l"/>
                <a:tab pos="469900" algn="l"/>
              </a:tabLst>
            </a:pPr>
            <a:r>
              <a:rPr lang="en-IN" sz="4400" dirty="0"/>
              <a:t>System Analysis</a:t>
            </a:r>
            <a:endParaRPr lang="en-IN" sz="4400" spc="-5" dirty="0">
              <a:solidFill>
                <a:srgbClr val="002060"/>
              </a:solidFill>
              <a:latin typeface="Times New Roman" panose="02020603050405020304"/>
              <a:cs typeface="Times New Roman" panose="02020603050405020304"/>
            </a:endParaRPr>
          </a:p>
          <a:p>
            <a:pPr marL="469265" indent="-456565">
              <a:lnSpc>
                <a:spcPct val="100000"/>
              </a:lnSpc>
              <a:spcBef>
                <a:spcPts val="600"/>
              </a:spcBef>
              <a:buClr>
                <a:srgbClr val="D24717"/>
              </a:buClr>
              <a:buSzPct val="85000"/>
              <a:buAutoNum type="arabicPeriod"/>
              <a:tabLst>
                <a:tab pos="469265" algn="l"/>
                <a:tab pos="469900" algn="l"/>
              </a:tabLst>
            </a:pPr>
            <a:r>
              <a:rPr lang="en-IN" sz="4400" spc="-5" dirty="0">
                <a:solidFill>
                  <a:schemeClr val="tx1">
                    <a:lumMod val="95000"/>
                    <a:lumOff val="5000"/>
                  </a:schemeClr>
                </a:solidFill>
                <a:latin typeface="Times New Roman" panose="02020603050405020304"/>
                <a:cs typeface="Times New Roman" panose="02020603050405020304"/>
              </a:rPr>
              <a:t>Architectural Design</a:t>
            </a:r>
          </a:p>
          <a:p>
            <a:pPr marL="469265" indent="-456565">
              <a:lnSpc>
                <a:spcPct val="100000"/>
              </a:lnSpc>
              <a:spcBef>
                <a:spcPts val="600"/>
              </a:spcBef>
              <a:buClr>
                <a:srgbClr val="D24717"/>
              </a:buClr>
              <a:buSzPct val="85000"/>
              <a:buAutoNum type="arabicPeriod"/>
              <a:tabLst>
                <a:tab pos="469265" algn="l"/>
                <a:tab pos="469900" algn="l"/>
              </a:tabLst>
            </a:pPr>
            <a:r>
              <a:rPr lang="en-IN" sz="4400" spc="-5" dirty="0">
                <a:solidFill>
                  <a:schemeClr val="tx1">
                    <a:lumMod val="95000"/>
                    <a:lumOff val="5000"/>
                  </a:schemeClr>
                </a:solidFill>
                <a:latin typeface="Times New Roman" panose="02020603050405020304"/>
                <a:cs typeface="Times New Roman" panose="02020603050405020304"/>
              </a:rPr>
              <a:t>Implementation</a:t>
            </a:r>
          </a:p>
          <a:p>
            <a:pPr marL="469265" indent="-456565">
              <a:lnSpc>
                <a:spcPct val="100000"/>
              </a:lnSpc>
              <a:spcBef>
                <a:spcPts val="600"/>
              </a:spcBef>
              <a:buClr>
                <a:srgbClr val="D24717"/>
              </a:buClr>
              <a:buSzPct val="85000"/>
              <a:buAutoNum type="arabicPeriod"/>
              <a:tabLst>
                <a:tab pos="469265" algn="l"/>
                <a:tab pos="469900" algn="l"/>
              </a:tabLst>
            </a:pPr>
            <a:r>
              <a:rPr lang="en-IN" sz="4400" spc="-5" dirty="0">
                <a:solidFill>
                  <a:schemeClr val="tx1">
                    <a:lumMod val="95000"/>
                    <a:lumOff val="5000"/>
                  </a:schemeClr>
                </a:solidFill>
                <a:latin typeface="Times New Roman" panose="02020603050405020304"/>
                <a:cs typeface="Times New Roman" panose="02020603050405020304"/>
              </a:rPr>
              <a:t>Results</a:t>
            </a:r>
          </a:p>
          <a:p>
            <a:pPr marL="469265" indent="-456565">
              <a:lnSpc>
                <a:spcPct val="100000"/>
              </a:lnSpc>
              <a:spcBef>
                <a:spcPts val="600"/>
              </a:spcBef>
              <a:buClr>
                <a:srgbClr val="D24717"/>
              </a:buClr>
              <a:buSzPct val="85000"/>
              <a:buAutoNum type="arabicPeriod"/>
              <a:tabLst>
                <a:tab pos="469265" algn="l"/>
                <a:tab pos="469900" algn="l"/>
              </a:tabLst>
            </a:pPr>
            <a:r>
              <a:rPr lang="en-IN" sz="4400" spc="-5" dirty="0">
                <a:solidFill>
                  <a:schemeClr val="tx1">
                    <a:lumMod val="95000"/>
                    <a:lumOff val="5000"/>
                  </a:schemeClr>
                </a:solidFill>
                <a:latin typeface="Times New Roman" panose="02020603050405020304"/>
                <a:cs typeface="Times New Roman" panose="02020603050405020304"/>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681719" cy="369332"/>
          </a:xfrm>
        </p:spPr>
        <p:txBody>
          <a:bodyPr/>
          <a:lstStyle/>
          <a:p>
            <a:r>
              <a:rPr lang="en-IN" sz="2400" u="none" spc="-5" dirty="0" err="1"/>
              <a:t>i</a:t>
            </a:r>
            <a:r>
              <a:rPr lang="en-IN" sz="2400" u="none" spc="-5" dirty="0"/>
              <a:t>. Abstract:</a:t>
            </a:r>
            <a:endParaRPr lang="en-IN" u="none" dirty="0"/>
          </a:p>
        </p:txBody>
      </p:sp>
      <p:sp>
        <p:nvSpPr>
          <p:cNvPr id="3" name="Text Placeholder 2"/>
          <p:cNvSpPr>
            <a:spLocks noGrp="1"/>
          </p:cNvSpPr>
          <p:nvPr>
            <p:ph type="body" idx="1"/>
          </p:nvPr>
        </p:nvSpPr>
        <p:spPr>
          <a:xfrm>
            <a:off x="533400" y="1295400"/>
            <a:ext cx="7590790" cy="4154984"/>
          </a:xfrm>
        </p:spPr>
        <p:txBody>
          <a:bodyPr wrap="square"/>
          <a:lstStyle/>
          <a:p>
            <a:pPr algn="just"/>
            <a:r>
              <a:rPr lang="en-US" sz="1800" dirty="0"/>
              <a:t>Ensuring safe drinking water is a critical public health requirement due to increasing water pollution and contamination. Conventional water quality testing methods are manual, time-consuming, and do not provide real-time information. This project presents an Development of Drinking Water Quality Monitoring and Alert System that enables continuous and real-time monitoring of water quality parameters. The system uses various sensors to measure essential parameters such as pH, turbidity, total dissolved solids (TDS), and temperature of drinking water. These sensors are interfaced with a Wi-Fi enabled microcontroller, which collects and transmits the sensor data to a cloud platform for storage and analysis. The monitored values are compared with standard safe drinking water limits, and when abnormal conditions are detected, instant alerts are generated and sent to users or concerned authorities. This system reduces human effort, ensures timely detection of water contamination, and helps in preventing water-borne diseases. The proposed solution is cost-effective, scalable, and suitable for smart city and rural water supply applications</a:t>
            </a:r>
            <a:endParaRPr lang="en-US" alt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228848" y="-76200"/>
            <a:ext cx="8610352" cy="6586418"/>
          </a:xfrm>
        </p:spPr>
        <p:txBody>
          <a:bodyPr/>
          <a:lstStyle/>
          <a:p>
            <a:pPr algn="just"/>
            <a:endParaRPr lang="en-US" b="1" dirty="0"/>
          </a:p>
          <a:p>
            <a:pPr algn="just"/>
            <a:r>
              <a:rPr lang="en-IN" sz="2400" b="1" spc="-10" dirty="0">
                <a:solidFill>
                  <a:schemeClr val="accent2"/>
                </a:solidFill>
              </a:rPr>
              <a:t>1.Introduction: </a:t>
            </a:r>
            <a:r>
              <a:rPr lang="en-US" b="1" dirty="0">
                <a:solidFill>
                  <a:schemeClr val="accent2"/>
                </a:solidFill>
              </a:rPr>
              <a:t> </a:t>
            </a:r>
          </a:p>
          <a:p>
            <a:pPr algn="just"/>
            <a:endParaRPr lang="en-US" b="1" dirty="0">
              <a:solidFill>
                <a:schemeClr val="accent2"/>
              </a:solidFill>
            </a:endParaRPr>
          </a:p>
          <a:p>
            <a:pPr algn="just"/>
            <a:r>
              <a:rPr lang="en-US" b="1" dirty="0"/>
              <a:t>1.1 Problem Definition &amp; Description: </a:t>
            </a:r>
          </a:p>
          <a:p>
            <a:pPr algn="just"/>
            <a:endParaRPr lang="en-US" b="1" dirty="0"/>
          </a:p>
          <a:p>
            <a:pPr marL="285750" indent="-285750">
              <a:buFont typeface="Arial" panose="020B0604020202020204" pitchFamily="34" charset="0"/>
              <a:buChar char="•"/>
            </a:pPr>
            <a:r>
              <a:rPr lang="en-US" sz="1800" dirty="0"/>
              <a:t>Access to safe and clean drinking water is a fundamental requirement for human health, yet water contamination remains a serious issue due to industrial waste, sewage leakage, agricultural runoff, and natural impurities.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Traditional water quality monitoring methods depend on manual sample collection and laboratory testing, which are time-consuming, expensive, and do not provide real-time results. Because of this delay, contamination is often detected only after people have already consumed unsafe water.</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In many urban and rural areas, drinking water is supplied without continuous quality monitoring. Important parameters such as pH, turbidity, total dissolved solids (TDS), and temperature can vary suddenly, but the absence of an automated monitoring and alert system prevents timely detection and response. </a:t>
            </a:r>
          </a:p>
          <a:p>
            <a:pPr marL="285750" indent="-285750">
              <a:buFont typeface="Arial" panose="020B0604020202020204" pitchFamily="34" charset="0"/>
              <a:buChar char="•"/>
            </a:pPr>
            <a:endParaRPr 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77ED17-0E26-EE62-0D97-CF1B036FD40E}"/>
              </a:ext>
            </a:extLst>
          </p:cNvPr>
          <p:cNvSpPr>
            <a:spLocks noGrp="1"/>
          </p:cNvSpPr>
          <p:nvPr>
            <p:ph type="body" idx="1"/>
          </p:nvPr>
        </p:nvSpPr>
        <p:spPr>
          <a:xfrm>
            <a:off x="262534" y="533400"/>
            <a:ext cx="8531860" cy="4191000"/>
          </a:xfrm>
        </p:spPr>
        <p:txBody>
          <a:bodyPr/>
          <a:lstStyle/>
          <a:p>
            <a:pPr algn="just"/>
            <a:r>
              <a:rPr lang="en-US" b="1" dirty="0"/>
              <a:t>1.2 Objective of the Project:</a:t>
            </a:r>
            <a:r>
              <a:rPr lang="en-US" dirty="0"/>
              <a:t> </a:t>
            </a:r>
          </a:p>
          <a:p>
            <a:pPr algn="just"/>
            <a:endParaRPr lang="en-US" dirty="0"/>
          </a:p>
          <a:p>
            <a:pPr marL="285750" indent="-285750" algn="just">
              <a:buFont typeface="Arial" panose="020B0604020202020204" pitchFamily="34" charset="0"/>
              <a:buChar char="•"/>
            </a:pPr>
            <a:r>
              <a:rPr lang="en-US" sz="2000" dirty="0"/>
              <a:t> The objective of this project is to design and develop an IoT based drinking water quality monitoring and alert system that continuously monitors the quality of drinking water in real time. </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system aims to measure important water quality parameters such as pH, turbidity, total dissolved solids (TDS), and temperature using suitable sensors.</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 It focuses on detecting water contamination at an early stage by comparing the measured values with standard safe drinking water limits.</a:t>
            </a:r>
          </a:p>
          <a:p>
            <a:pPr algn="just"/>
            <a:endParaRPr lang="en-US" altLang="en-US" sz="2000" dirty="0"/>
          </a:p>
          <a:p>
            <a:endParaRPr lang="en-US" dirty="0"/>
          </a:p>
        </p:txBody>
      </p:sp>
    </p:spTree>
    <p:extLst>
      <p:ext uri="{BB962C8B-B14F-4D97-AF65-F5344CB8AC3E}">
        <p14:creationId xmlns:p14="http://schemas.microsoft.com/office/powerpoint/2010/main" val="2479090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599" y="76200"/>
            <a:ext cx="8610601" cy="8617744"/>
          </a:xfrm>
        </p:spPr>
        <p:txBody>
          <a:bodyPr/>
          <a:lstStyle/>
          <a:p>
            <a:pPr algn="just"/>
            <a:r>
              <a:rPr lang="en-IN" sz="1800" dirty="0">
                <a:solidFill>
                  <a:srgbClr val="000000"/>
                </a:solidFill>
                <a:effectLst/>
                <a:latin typeface="Times New Roman" panose="02020603050405020304" pitchFamily="18" charset="0"/>
                <a:ea typeface="Times New Roman" panose="02020603050405020304" pitchFamily="18" charset="0"/>
              </a:rPr>
              <a:t> </a:t>
            </a:r>
            <a:r>
              <a:rPr lang="en-US" b="1" dirty="0"/>
              <a:t>1.3 Scope of the Project:</a:t>
            </a:r>
          </a:p>
          <a:p>
            <a:pPr algn="just"/>
            <a:endParaRPr lang="en-US" b="1" dirty="0"/>
          </a:p>
          <a:p>
            <a:pPr marL="342900" indent="-342900" algn="just">
              <a:buFont typeface="Arial" panose="020B0604020202020204" pitchFamily="34" charset="0"/>
              <a:buChar char="•"/>
            </a:pPr>
            <a:r>
              <a:rPr lang="en-US" dirty="0"/>
              <a:t>The scope of the </a:t>
            </a:r>
            <a:r>
              <a:rPr lang="en-US" b="1" dirty="0"/>
              <a:t>IoT Based Drinking Water Quality Monitoring and Alert System</a:t>
            </a:r>
            <a:r>
              <a:rPr lang="en-US" dirty="0"/>
              <a:t> includes the continuous and real-time monitoring of drinking water quality using IoT technology.</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 The project focuses on measuring essential water quality parameters such as pH, turbidity, total dissolved solids (TDS), and temperature to assess the safety of drinking water.</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 It enables remote data transmission to a cloud platform, allowing users and authorities to monitor water quality from any location. </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The system also provides automatic alert notifications when water quality parameters exceed permissible limits, ensuring timely action.</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 The project is designed to be cost-effective and scalable, making it suitable for applications such as municipal water supply systems, rural drinking water sources, smart cities, and water treatment plants. </a:t>
            </a:r>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140" y="466403"/>
            <a:ext cx="8681719" cy="738664"/>
          </a:xfrm>
        </p:spPr>
        <p:txBody>
          <a:bodyPr/>
          <a:lstStyle/>
          <a:p>
            <a:r>
              <a:rPr lang="en-IN" u="none" spc="-5" dirty="0"/>
              <a:t>2. </a:t>
            </a:r>
            <a:r>
              <a:rPr lang="en-IN" u="none" dirty="0"/>
              <a:t>System Analysis</a:t>
            </a:r>
            <a:br>
              <a:rPr lang="en-IN" u="none" dirty="0"/>
            </a:br>
            <a:r>
              <a:rPr lang="en-IN" u="none" dirty="0"/>
              <a:t> </a:t>
            </a:r>
          </a:p>
        </p:txBody>
      </p:sp>
      <p:sp>
        <p:nvSpPr>
          <p:cNvPr id="8" name="Rectangle 3"/>
          <p:cNvSpPr>
            <a:spLocks noChangeArrowheads="1"/>
          </p:cNvSpPr>
          <p:nvPr/>
        </p:nvSpPr>
        <p:spPr bwMode="auto">
          <a:xfrm>
            <a:off x="304799" y="1029714"/>
            <a:ext cx="845566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indent="-342900">
              <a:buFont typeface="Arial" panose="020B0604020202020204" pitchFamily="34" charset="0"/>
              <a:buChar char="•"/>
            </a:pPr>
            <a:r>
              <a:rPr lang="en-US" sz="2000" dirty="0">
                <a:solidFill>
                  <a:schemeClr val="tx2"/>
                </a:solidFill>
              </a:rPr>
              <a:t>System analysis involves a detailed study of the existing system, identification of its limitations, and defining the requirements of the proposed system.</a:t>
            </a:r>
          </a:p>
          <a:p>
            <a:pPr marL="342900" indent="-342900">
              <a:buFont typeface="Arial" panose="020B0604020202020204" pitchFamily="34" charset="0"/>
              <a:buChar char="•"/>
            </a:pPr>
            <a:endParaRPr lang="en-US" sz="2000" dirty="0">
              <a:solidFill>
                <a:schemeClr val="tx2"/>
              </a:solidFill>
            </a:endParaRPr>
          </a:p>
          <a:p>
            <a:pPr marL="342900" indent="-342900">
              <a:buFont typeface="Arial" panose="020B0604020202020204" pitchFamily="34" charset="0"/>
              <a:buChar char="•"/>
            </a:pPr>
            <a:r>
              <a:rPr lang="en-US" sz="2000" dirty="0">
                <a:solidFill>
                  <a:schemeClr val="tx2"/>
                </a:solidFill>
              </a:rPr>
              <a:t>These methods are time-consuming, labor-intensive, costly, and do not provide real-time information. Due to the lack of continuous monitoring and instant alerts, contamination is often detected late, increasing health risks.</a:t>
            </a:r>
          </a:p>
          <a:p>
            <a:pPr marL="342900" indent="-342900">
              <a:buFont typeface="Arial" panose="020B0604020202020204" pitchFamily="34" charset="0"/>
              <a:buChar char="•"/>
            </a:pPr>
            <a:endParaRPr lang="en-US" sz="2000" dirty="0">
              <a:solidFill>
                <a:schemeClr val="tx2"/>
              </a:solidFill>
            </a:endParaRPr>
          </a:p>
          <a:p>
            <a:pPr marL="342900" indent="-342900">
              <a:buFont typeface="Arial" panose="020B0604020202020204" pitchFamily="34" charset="0"/>
              <a:buChar char="•"/>
            </a:pPr>
            <a:r>
              <a:rPr lang="en-US" sz="2000" dirty="0">
                <a:solidFill>
                  <a:schemeClr val="tx2"/>
                </a:solidFill>
              </a:rPr>
              <a:t>The system uses water quality sensors to continuously monitor parameters such as pH, turbidity, TDS, and temperature. A microcontroller processes the sensor data and transmits it to a cloud platform through the internet. </a:t>
            </a:r>
          </a:p>
          <a:p>
            <a:pPr marL="342900" indent="-342900">
              <a:buFont typeface="Arial" panose="020B0604020202020204" pitchFamily="34" charset="0"/>
              <a:buChar char="•"/>
            </a:pPr>
            <a:endParaRPr lang="en-US" sz="2000" dirty="0">
              <a:solidFill>
                <a:schemeClr val="tx2"/>
              </a:solidFill>
            </a:endParaRPr>
          </a:p>
          <a:p>
            <a:pPr marL="342900" indent="-342900">
              <a:buFont typeface="Arial" panose="020B0604020202020204" pitchFamily="34" charset="0"/>
              <a:buChar char="•"/>
            </a:pPr>
            <a:r>
              <a:rPr lang="en-US" sz="2000" dirty="0">
                <a:solidFill>
                  <a:schemeClr val="tx2"/>
                </a:solidFill>
              </a:rPr>
              <a:t>The cloud system stores and analyzes the data by comparing it with standard safe limits. If any parameter exceeds the permissible range, the system immediately generates alerts to notify users or concerned authorities.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0500" y="152400"/>
            <a:ext cx="8763000" cy="5724644"/>
          </a:xfrm>
        </p:spPr>
        <p:txBody>
          <a:bodyPr/>
          <a:lstStyle/>
          <a:p>
            <a:pPr algn="just"/>
            <a:r>
              <a:rPr lang="en-US" b="1" dirty="0"/>
              <a:t>2.1 Existing System: </a:t>
            </a:r>
          </a:p>
          <a:p>
            <a:pPr algn="just"/>
            <a:endParaRPr lang="en-US" b="1" dirty="0"/>
          </a:p>
          <a:p>
            <a:pPr algn="just"/>
            <a:r>
              <a:rPr lang="en-US" b="1" dirty="0"/>
              <a:t>2.1.1 Background &amp; Literature Survey:</a:t>
            </a:r>
          </a:p>
          <a:p>
            <a:pPr algn="just"/>
            <a:endParaRPr lang="en-US" b="1" dirty="0"/>
          </a:p>
          <a:p>
            <a:pPr marL="285750" indent="-285750" algn="just">
              <a:buFont typeface="Arial" panose="020B0604020202020204" pitchFamily="34" charset="0"/>
              <a:buChar char="•"/>
            </a:pPr>
            <a:r>
              <a:rPr lang="en-US" sz="1800" dirty="0"/>
              <a:t>Water quality monitoring is essential to ensure safe drinking water, as contamination caused by industrial waste, sewage, and agricultural activities poses serious health risks. </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Traditional water testing methods rely on manual sample collection and laboratory analysis, which are time-consuming and unsuitable for real-time monitoring. </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To overcome these limitations, researchers have proposed sensor-based and IoT-enabled water quality monitoring systems. These systems use sensors to measure parameters such as pH, turbidity, TDS, and temperature, and transmit data to cloud platforms for remote monitoring.</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However, existing solutions often face challenges such as high cost, limited scalability, and maintenance issues. Hence, there is a need for a cost-effective and reliable IoT-based water quality monitoring and alert system for continuous and real-time monitoring.</a:t>
            </a:r>
            <a:endParaRPr lang="en-US" altLang="en-US" sz="1800" dirty="0"/>
          </a:p>
          <a:p>
            <a:pPr algn="just"/>
            <a:endParaRPr lang="en-IN" dirty="0"/>
          </a:p>
          <a:p>
            <a:pPr algn="just"/>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A4550B-3366-55F8-3022-C8C6717BCB90}"/>
              </a:ext>
            </a:extLst>
          </p:cNvPr>
          <p:cNvSpPr>
            <a:spLocks noGrp="1"/>
          </p:cNvSpPr>
          <p:nvPr>
            <p:ph type="body" idx="1"/>
          </p:nvPr>
        </p:nvSpPr>
        <p:spPr>
          <a:xfrm>
            <a:off x="262534" y="762000"/>
            <a:ext cx="8531860" cy="5539978"/>
          </a:xfrm>
        </p:spPr>
        <p:txBody>
          <a:bodyPr/>
          <a:lstStyle/>
          <a:p>
            <a:pPr algn="just"/>
            <a:r>
              <a:rPr lang="en-US" b="1" dirty="0"/>
              <a:t>2.1.2 Limitations of Existing System:</a:t>
            </a:r>
          </a:p>
          <a:p>
            <a:pPr algn="just"/>
            <a:endParaRPr lang="en-US" b="1" dirty="0"/>
          </a:p>
          <a:p>
            <a:pPr marL="285750" indent="-285750" algn="just">
              <a:buFont typeface="Arial" panose="020B0604020202020204" pitchFamily="34" charset="0"/>
              <a:buChar char="•"/>
            </a:pPr>
            <a:r>
              <a:rPr lang="en-US" sz="2000" dirty="0"/>
              <a:t>The existing drinking water quality monitoring system mainly relies on manual sample collection and laboratory testing, which is time-consuming and labor-intensive.</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 It does not provide real-time or continuous monitoring, making it difficult to detect sudden contamination.</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process is costly and requires skilled manpower and specialized equipment. There is no automatic alert mechanism to immediately inform users or authorities when water quality becomes unsafe.</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 Additionally, the existing system lacks remote monitoring and data storage capabilities, which limits timely decision-making and effective water quality management.</a:t>
            </a:r>
            <a:endParaRPr lang="en-US" altLang="en-US" sz="2000" dirty="0"/>
          </a:p>
          <a:p>
            <a:pPr algn="just"/>
            <a:endParaRPr lang="en-IN" dirty="0"/>
          </a:p>
          <a:p>
            <a:endParaRPr lang="en-US" dirty="0"/>
          </a:p>
        </p:txBody>
      </p:sp>
    </p:spTree>
    <p:extLst>
      <p:ext uri="{BB962C8B-B14F-4D97-AF65-F5344CB8AC3E}">
        <p14:creationId xmlns:p14="http://schemas.microsoft.com/office/powerpoint/2010/main" val="2304603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457200"/>
            <a:ext cx="8531860" cy="5539978"/>
          </a:xfrm>
        </p:spPr>
        <p:txBody>
          <a:bodyPr/>
          <a:lstStyle/>
          <a:p>
            <a:pPr algn="just"/>
            <a:r>
              <a:rPr lang="en-US" b="1" dirty="0"/>
              <a:t>2.2 Proposed System:</a:t>
            </a:r>
          </a:p>
          <a:p>
            <a:r>
              <a:rPr lang="en-US" dirty="0"/>
              <a:t>	</a:t>
            </a:r>
          </a:p>
          <a:p>
            <a:pPr marL="342900" indent="-342900">
              <a:buFont typeface="Arial" panose="020B0604020202020204" pitchFamily="34" charset="0"/>
              <a:buChar char="•"/>
            </a:pPr>
            <a:r>
              <a:rPr lang="en-US" dirty="0"/>
              <a:t>The proposed system uses multiple water quality sensors to measure important parameters such as pH, turbidity, total dissolved solids (TDS), and temperature.</a:t>
            </a:r>
          </a:p>
          <a:p>
            <a:r>
              <a:rPr lang="en-US" dirty="0"/>
              <a:t> </a:t>
            </a:r>
          </a:p>
          <a:p>
            <a:pPr marL="342900" indent="-342900">
              <a:buFont typeface="Arial" panose="020B0604020202020204" pitchFamily="34" charset="0"/>
              <a:buChar char="•"/>
            </a:pPr>
            <a:r>
              <a:rPr lang="en-US" dirty="0"/>
              <a:t>These sensors are connected to a Wi-Fi enabled microcontroller, which collects and processes the sensor data.</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The measured data is transmitted to a cloud platform through the internet, where it is stored and analyzed by comparing it with standard safe drinking water limits.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When any parameter exceeds the permissible range, the system automatically generates alerts and notifies users or concerned authorities through voice announcements or dashboards.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The proposed system reduces human intervention, enables remote monitoring, provides quick detection of contamination, and ensures timely action.</a:t>
            </a:r>
          </a:p>
        </p:txBody>
      </p:sp>
    </p:spTree>
    <p:extLst>
      <p:ext uri="{BB962C8B-B14F-4D97-AF65-F5344CB8AC3E}">
        <p14:creationId xmlns:p14="http://schemas.microsoft.com/office/powerpoint/2010/main" val="681661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381000"/>
            <a:ext cx="8531860" cy="6155531"/>
          </a:xfrm>
        </p:spPr>
        <p:txBody>
          <a:bodyPr/>
          <a:lstStyle/>
          <a:p>
            <a:r>
              <a:rPr lang="en-US" b="1" dirty="0"/>
              <a:t>Literature Survey Links:</a:t>
            </a:r>
          </a:p>
          <a:p>
            <a:endParaRPr lang="en-US" b="1" dirty="0"/>
          </a:p>
          <a:p>
            <a:pPr marL="342900" indent="-342900" algn="l">
              <a:buFont typeface="Arial" panose="020B0604020202020204" pitchFamily="34" charset="0"/>
              <a:buChar char="•"/>
            </a:pPr>
            <a:r>
              <a:rPr lang="en-US" dirty="0"/>
              <a:t> </a:t>
            </a:r>
            <a:r>
              <a:rPr lang="en-US" dirty="0" err="1"/>
              <a:t>Konde</a:t>
            </a:r>
            <a:r>
              <a:rPr lang="en-US" dirty="0"/>
              <a:t>, S., &amp; </a:t>
            </a:r>
            <a:r>
              <a:rPr lang="en-US" dirty="0" err="1"/>
              <a:t>Deosarkar</a:t>
            </a:r>
            <a:r>
              <a:rPr lang="en-US" dirty="0"/>
              <a:t>, S. (2020). IoT-based water quality monitoring system.     International Journal of Engineering and Technology</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IN" dirty="0" err="1"/>
              <a:t>Sugapriyaa</a:t>
            </a:r>
            <a:r>
              <a:rPr lang="en-IN" dirty="0"/>
              <a:t>, T., Rakshaya, S., Ramyadevi, K., Ramya, M., &amp; Rashmi, P. G. (2018). Smart water quality monitoring system for real-time applications. International Journal of Engineering &amp; Technology</a:t>
            </a:r>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r>
              <a:rPr lang="en-US" dirty="0" err="1"/>
              <a:t>Unnikrishna</a:t>
            </a:r>
            <a:r>
              <a:rPr lang="en-US" dirty="0"/>
              <a:t> Menon, K. A., Ramesh, M. V., &amp; D. P. (2012). Wireless sensor network for river water quality monitoring in India. International Journal of Computer Applications</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 Kumar, M. J. V., &amp; </a:t>
            </a:r>
            <a:r>
              <a:rPr lang="en-US" dirty="0" err="1"/>
              <a:t>Samalla</a:t>
            </a:r>
            <a:r>
              <a:rPr lang="en-US" dirty="0"/>
              <a:t>, K. (2019). Design and development of water quality monitoring system in IoT. International Journal of Engineering and Technology</a:t>
            </a:r>
          </a:p>
          <a:p>
            <a:pPr marL="342900" indent="-342900" algn="l">
              <a:buFont typeface="Arial" panose="020B0604020202020204" pitchFamily="34" charset="0"/>
              <a:buChar char="•"/>
            </a:pPr>
            <a:endParaRPr lang="en-US" dirty="0">
              <a:solidFill>
                <a:schemeClr val="tx2">
                  <a:lumMod val="75000"/>
                </a:schemeClr>
              </a:solidFill>
            </a:endParaRPr>
          </a:p>
          <a:p>
            <a:pPr marL="342900" indent="-342900" algn="l">
              <a:buFont typeface="Arial" panose="020B0604020202020204" pitchFamily="34" charset="0"/>
              <a:buChar char="•"/>
            </a:pPr>
            <a:r>
              <a:rPr lang="en-IN" dirty="0"/>
              <a:t>Hamid, S. A., Rahim, A. M. A., </a:t>
            </a:r>
            <a:r>
              <a:rPr lang="en-IN" dirty="0" err="1"/>
              <a:t>Fadhlullah</a:t>
            </a:r>
            <a:r>
              <a:rPr lang="en-IN" dirty="0"/>
              <a:t>, S. Y., Abdullah, S., Muhammad, Z., &amp; Leh, N. A. M. (2020). IoT-based water quality monitoring system and evaluation. </a:t>
            </a:r>
            <a:endParaRPr lang="en-US" dirty="0"/>
          </a:p>
        </p:txBody>
      </p:sp>
    </p:spTree>
    <p:extLst>
      <p:ext uri="{BB962C8B-B14F-4D97-AF65-F5344CB8AC3E}">
        <p14:creationId xmlns:p14="http://schemas.microsoft.com/office/powerpoint/2010/main" val="1805700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304800"/>
            <a:ext cx="8686800" cy="8586966"/>
          </a:xfrm>
        </p:spPr>
        <p:txBody>
          <a:bodyPr/>
          <a:lstStyle/>
          <a:p>
            <a:pPr algn="just"/>
            <a:r>
              <a:rPr lang="en-US" sz="1800" b="1" dirty="0"/>
              <a:t>2.3 Software &amp; Hardware Requirements:</a:t>
            </a:r>
          </a:p>
          <a:p>
            <a:pPr algn="just"/>
            <a:r>
              <a:rPr lang="en-US" sz="1800" b="1" dirty="0"/>
              <a:t>2.3.1 Software Requirements:</a:t>
            </a:r>
          </a:p>
          <a:p>
            <a:pPr marL="285750" indent="-285750" algn="just">
              <a:buFont typeface="Arial" panose="020B0604020202020204" pitchFamily="34" charset="0"/>
              <a:buChar char="•"/>
            </a:pPr>
            <a:r>
              <a:rPr lang="en-IN" sz="1800" b="1" dirty="0">
                <a:solidFill>
                  <a:schemeClr val="tx1"/>
                </a:solidFill>
              </a:rPr>
              <a:t>Operating System:</a:t>
            </a:r>
            <a:r>
              <a:rPr lang="en-IN" sz="1800" dirty="0">
                <a:solidFill>
                  <a:schemeClr val="tx1"/>
                </a:solidFill>
              </a:rPr>
              <a:t> Windows </a:t>
            </a:r>
          </a:p>
          <a:p>
            <a:pPr marL="285750" indent="-285750" algn="just">
              <a:buFont typeface="Arial" panose="020B0604020202020204" pitchFamily="34" charset="0"/>
              <a:buChar char="•"/>
            </a:pPr>
            <a:r>
              <a:rPr lang="en-IN" sz="1800" b="1" dirty="0">
                <a:solidFill>
                  <a:schemeClr val="tx1"/>
                </a:solidFill>
              </a:rPr>
              <a:t>Programming Language:</a:t>
            </a:r>
            <a:r>
              <a:rPr lang="en-IN" sz="1800" dirty="0">
                <a:solidFill>
                  <a:schemeClr val="tx1"/>
                </a:solidFill>
              </a:rPr>
              <a:t>  Arduino Programming</a:t>
            </a:r>
          </a:p>
          <a:p>
            <a:pPr marL="285750" indent="-285750" algn="just">
              <a:buFont typeface="Arial" panose="020B0604020202020204" pitchFamily="34" charset="0"/>
              <a:buChar char="•"/>
            </a:pPr>
            <a:r>
              <a:rPr lang="en-IN" sz="1800" b="1" dirty="0">
                <a:solidFill>
                  <a:schemeClr val="tx1"/>
                </a:solidFill>
              </a:rPr>
              <a:t>Development Environment:</a:t>
            </a:r>
            <a:r>
              <a:rPr lang="en-IN" sz="1800" dirty="0">
                <a:solidFill>
                  <a:schemeClr val="tx1"/>
                </a:solidFill>
              </a:rPr>
              <a:t> Arduino IDE</a:t>
            </a:r>
          </a:p>
          <a:p>
            <a:pPr marL="285750" indent="-285750" algn="just">
              <a:buFont typeface="Arial" panose="020B0604020202020204" pitchFamily="34" charset="0"/>
              <a:buChar char="•"/>
            </a:pPr>
            <a:r>
              <a:rPr lang="en-US" sz="1800" b="1" dirty="0">
                <a:solidFill>
                  <a:schemeClr val="tx1"/>
                </a:solidFill>
              </a:rPr>
              <a:t>Cloud Platform:</a:t>
            </a:r>
            <a:r>
              <a:rPr lang="en-US" sz="1800" dirty="0">
                <a:solidFill>
                  <a:schemeClr val="tx1"/>
                </a:solidFill>
              </a:rPr>
              <a:t> </a:t>
            </a:r>
            <a:r>
              <a:rPr lang="en-US" sz="1800" dirty="0" err="1">
                <a:solidFill>
                  <a:schemeClr val="tx1"/>
                </a:solidFill>
              </a:rPr>
              <a:t>ThingSpeak</a:t>
            </a:r>
            <a:r>
              <a:rPr lang="en-US" sz="1800" dirty="0">
                <a:solidFill>
                  <a:schemeClr val="tx1"/>
                </a:solidFill>
              </a:rPr>
              <a:t> /  Blynk </a:t>
            </a:r>
          </a:p>
          <a:p>
            <a:pPr marL="285750" indent="-285750" algn="just">
              <a:buFont typeface="Arial" panose="020B0604020202020204" pitchFamily="34" charset="0"/>
              <a:buChar char="•"/>
            </a:pPr>
            <a:r>
              <a:rPr lang="en-IN" sz="1800" b="1" dirty="0">
                <a:solidFill>
                  <a:schemeClr val="tx1"/>
                </a:solidFill>
              </a:rPr>
              <a:t>Database:</a:t>
            </a:r>
            <a:r>
              <a:rPr lang="en-IN" sz="1800" dirty="0">
                <a:solidFill>
                  <a:schemeClr val="tx1"/>
                </a:solidFill>
              </a:rPr>
              <a:t> Cloud-based database</a:t>
            </a:r>
          </a:p>
          <a:p>
            <a:pPr marL="285750" indent="-285750" algn="just">
              <a:buFont typeface="Arial" panose="020B0604020202020204" pitchFamily="34" charset="0"/>
              <a:buChar char="•"/>
            </a:pPr>
            <a:r>
              <a:rPr lang="en-IN" sz="1800" b="1" dirty="0">
                <a:solidFill>
                  <a:schemeClr val="tx1"/>
                </a:solidFill>
              </a:rPr>
              <a:t>Web Browser:</a:t>
            </a:r>
            <a:r>
              <a:rPr lang="en-IN" sz="1800" dirty="0">
                <a:solidFill>
                  <a:schemeClr val="tx1"/>
                </a:solidFill>
              </a:rPr>
              <a:t> Google chrome </a:t>
            </a:r>
          </a:p>
          <a:p>
            <a:pPr marL="285750" indent="-285750" algn="just">
              <a:buFont typeface="Arial" panose="020B0604020202020204" pitchFamily="34" charset="0"/>
              <a:buChar char="•"/>
            </a:pPr>
            <a:r>
              <a:rPr lang="en-IN" sz="1800" b="1" dirty="0">
                <a:solidFill>
                  <a:schemeClr val="tx1"/>
                </a:solidFill>
              </a:rPr>
              <a:t>Communication Protocol:</a:t>
            </a:r>
            <a:r>
              <a:rPr lang="en-IN" sz="1800" dirty="0">
                <a:solidFill>
                  <a:schemeClr val="tx1"/>
                </a:solidFill>
              </a:rPr>
              <a:t> HTTP / MQTT</a:t>
            </a:r>
          </a:p>
          <a:p>
            <a:pPr marL="285750" indent="-285750" algn="just">
              <a:buFont typeface="Arial" panose="020B0604020202020204" pitchFamily="34" charset="0"/>
              <a:buChar char="•"/>
            </a:pPr>
            <a:r>
              <a:rPr lang="en-US" sz="1800" b="1" dirty="0">
                <a:solidFill>
                  <a:schemeClr val="tx1"/>
                </a:solidFill>
              </a:rPr>
              <a:t>Internet Connection:</a:t>
            </a:r>
            <a:r>
              <a:rPr lang="en-US" sz="1800" dirty="0">
                <a:solidFill>
                  <a:schemeClr val="tx1"/>
                </a:solidFill>
              </a:rPr>
              <a:t> Required for data transmission and alert generation</a:t>
            </a:r>
          </a:p>
          <a:p>
            <a:pPr algn="just"/>
            <a:endParaRPr lang="en-US" sz="1800" dirty="0">
              <a:solidFill>
                <a:schemeClr val="tx1"/>
              </a:solidFill>
            </a:endParaRPr>
          </a:p>
          <a:p>
            <a:pPr algn="just"/>
            <a:r>
              <a:rPr lang="en-US" sz="1800" dirty="0">
                <a:solidFill>
                  <a:schemeClr val="tx2"/>
                </a:solidFill>
              </a:rPr>
              <a:t>2.3.2   </a:t>
            </a:r>
            <a:r>
              <a:rPr lang="en-US" sz="1800" dirty="0">
                <a:solidFill>
                  <a:schemeClr val="tx2">
                    <a:lumMod val="75000"/>
                  </a:schemeClr>
                </a:solidFill>
              </a:rPr>
              <a:t>Hardware Requirements:</a:t>
            </a:r>
          </a:p>
          <a:p>
            <a:pPr marL="285750" indent="-285750" algn="just">
              <a:buFont typeface="Arial" panose="020B0604020202020204" pitchFamily="34" charset="0"/>
              <a:buChar char="•"/>
            </a:pPr>
            <a:r>
              <a:rPr lang="it-IT" sz="1800" dirty="0">
                <a:solidFill>
                  <a:schemeClr val="tx1"/>
                </a:solidFill>
              </a:rPr>
              <a:t>Microcontroller</a:t>
            </a:r>
          </a:p>
          <a:p>
            <a:pPr marL="285750" indent="-285750" algn="just">
              <a:buFont typeface="Arial" panose="020B0604020202020204" pitchFamily="34" charset="0"/>
              <a:buChar char="•"/>
            </a:pPr>
            <a:r>
              <a:rPr lang="en-US" sz="1800" dirty="0">
                <a:solidFill>
                  <a:schemeClr val="tx1"/>
                </a:solidFill>
              </a:rPr>
              <a:t>pH Sensor</a:t>
            </a:r>
          </a:p>
          <a:p>
            <a:pPr marL="285750" indent="-285750" algn="just">
              <a:buFont typeface="Arial" panose="020B0604020202020204" pitchFamily="34" charset="0"/>
              <a:buChar char="•"/>
            </a:pPr>
            <a:r>
              <a:rPr lang="en-US" sz="1800" dirty="0">
                <a:solidFill>
                  <a:schemeClr val="tx1"/>
                </a:solidFill>
              </a:rPr>
              <a:t>Turbidity Sensor</a:t>
            </a:r>
          </a:p>
          <a:p>
            <a:pPr marL="285750" indent="-285750" algn="just">
              <a:buFont typeface="Arial" panose="020B0604020202020204" pitchFamily="34" charset="0"/>
              <a:buChar char="•"/>
            </a:pPr>
            <a:r>
              <a:rPr lang="en-US" sz="1800" dirty="0">
                <a:solidFill>
                  <a:schemeClr val="tx1"/>
                </a:solidFill>
              </a:rPr>
              <a:t>TDS Sensor</a:t>
            </a:r>
          </a:p>
          <a:p>
            <a:pPr marL="285750" indent="-285750" algn="just">
              <a:buFont typeface="Arial" panose="020B0604020202020204" pitchFamily="34" charset="0"/>
              <a:buChar char="•"/>
            </a:pPr>
            <a:r>
              <a:rPr lang="en-US" sz="1800" dirty="0">
                <a:solidFill>
                  <a:schemeClr val="tx1"/>
                </a:solidFill>
              </a:rPr>
              <a:t>Voice Speaker</a:t>
            </a:r>
          </a:p>
          <a:p>
            <a:pPr marL="285750" indent="-285750" algn="just">
              <a:buFont typeface="Arial" panose="020B0604020202020204" pitchFamily="34" charset="0"/>
              <a:buChar char="•"/>
            </a:pPr>
            <a:r>
              <a:rPr lang="en-US" sz="1800" dirty="0" err="1">
                <a:solidFill>
                  <a:schemeClr val="tx1"/>
                </a:solidFill>
              </a:rPr>
              <a:t>WiFi</a:t>
            </a:r>
            <a:r>
              <a:rPr lang="en-US" sz="1800" dirty="0">
                <a:solidFill>
                  <a:schemeClr val="tx1"/>
                </a:solidFill>
              </a:rPr>
              <a:t> Module</a:t>
            </a:r>
          </a:p>
          <a:p>
            <a:pPr marL="285750" indent="-285750" algn="just">
              <a:buFont typeface="Arial" panose="020B0604020202020204" pitchFamily="34" charset="0"/>
              <a:buChar char="•"/>
            </a:pPr>
            <a:r>
              <a:rPr lang="en-US" sz="1800" dirty="0">
                <a:solidFill>
                  <a:schemeClr val="tx1"/>
                </a:solidFill>
              </a:rPr>
              <a:t>Breadboard</a:t>
            </a:r>
          </a:p>
          <a:p>
            <a:pPr marL="285750" indent="-285750" algn="just">
              <a:buFont typeface="Arial" panose="020B0604020202020204" pitchFamily="34" charset="0"/>
              <a:buChar char="•"/>
            </a:pPr>
            <a:r>
              <a:rPr lang="en-US" sz="1800" dirty="0">
                <a:solidFill>
                  <a:schemeClr val="tx1"/>
                </a:solidFill>
              </a:rPr>
              <a:t>Jumper Wires</a:t>
            </a:r>
          </a:p>
          <a:p>
            <a:pPr marL="285750" indent="-285750" algn="just">
              <a:buFont typeface="Arial" panose="020B0604020202020204" pitchFamily="34" charset="0"/>
              <a:buChar char="•"/>
            </a:pPr>
            <a:r>
              <a:rPr lang="en-US" sz="1800" dirty="0">
                <a:solidFill>
                  <a:schemeClr val="tx1"/>
                </a:solidFill>
              </a:rPr>
              <a:t>Power Supply</a:t>
            </a:r>
          </a:p>
          <a:p>
            <a:pPr algn="just"/>
            <a:endParaRPr lang="en-IN" sz="1800" dirty="0">
              <a:solidFill>
                <a:schemeClr val="tx2"/>
              </a:solidFill>
            </a:endParaRPr>
          </a:p>
          <a:p>
            <a:pPr algn="just"/>
            <a:endParaRPr lang="en-IN" sz="1800" dirty="0"/>
          </a:p>
          <a:p>
            <a:pPr algn="just"/>
            <a:endParaRPr lang="en-US" sz="1800" b="1" dirty="0"/>
          </a:p>
          <a:p>
            <a:pPr algn="just"/>
            <a:endParaRPr lang="en-US" sz="1800" b="1" dirty="0"/>
          </a:p>
          <a:p>
            <a:pPr algn="just"/>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a:p>
            <a:pPr algn="just"/>
            <a:r>
              <a:rPr lang="en-US" altLang="en-US" sz="1800"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5BA44-0A97-3526-752D-D6903D2D211A}"/>
              </a:ext>
            </a:extLst>
          </p:cNvPr>
          <p:cNvSpPr>
            <a:spLocks noGrp="1"/>
          </p:cNvSpPr>
          <p:nvPr>
            <p:ph type="title"/>
          </p:nvPr>
        </p:nvSpPr>
        <p:spPr>
          <a:xfrm>
            <a:off x="231140" y="228600"/>
            <a:ext cx="8681719" cy="1292662"/>
          </a:xfrm>
        </p:spPr>
        <p:txBody>
          <a:bodyPr/>
          <a:lstStyle/>
          <a:p>
            <a:r>
              <a:rPr lang="en-US" sz="2000" u="none" dirty="0">
                <a:solidFill>
                  <a:srgbClr val="002060"/>
                </a:solidFill>
              </a:rPr>
              <a:t>2.4 Feasibility Study:</a:t>
            </a:r>
            <a:br>
              <a:rPr lang="en-US" sz="2000" u="none" dirty="0">
                <a:solidFill>
                  <a:srgbClr val="002060"/>
                </a:solidFill>
              </a:rPr>
            </a:br>
            <a:br>
              <a:rPr lang="en-US" sz="2000" u="none" dirty="0">
                <a:solidFill>
                  <a:srgbClr val="002060"/>
                </a:solidFill>
              </a:rPr>
            </a:br>
            <a:r>
              <a:rPr lang="en-US" sz="2000" u="none" dirty="0">
                <a:solidFill>
                  <a:srgbClr val="002060"/>
                </a:solidFill>
              </a:rPr>
              <a:t>2.4.1 Technical Feasibility: </a:t>
            </a:r>
            <a:br>
              <a:rPr lang="en-US" dirty="0">
                <a:solidFill>
                  <a:srgbClr val="002060"/>
                </a:solidFill>
              </a:rPr>
            </a:br>
            <a:endParaRPr lang="en-IN" dirty="0"/>
          </a:p>
        </p:txBody>
      </p:sp>
      <p:sp>
        <p:nvSpPr>
          <p:cNvPr id="3" name="Text Placeholder 2">
            <a:extLst>
              <a:ext uri="{FF2B5EF4-FFF2-40B4-BE49-F238E27FC236}">
                <a16:creationId xmlns:a16="http://schemas.microsoft.com/office/drawing/2014/main" id="{5BD36DF3-8F68-AE01-E39D-E51271AB901A}"/>
              </a:ext>
            </a:extLst>
          </p:cNvPr>
          <p:cNvSpPr>
            <a:spLocks noGrp="1"/>
          </p:cNvSpPr>
          <p:nvPr>
            <p:ph type="body" idx="1"/>
          </p:nvPr>
        </p:nvSpPr>
        <p:spPr>
          <a:xfrm>
            <a:off x="262534" y="1485138"/>
            <a:ext cx="8531860" cy="4924425"/>
          </a:xfrm>
        </p:spPr>
        <p:txBody>
          <a:bodyPr/>
          <a:lstStyle/>
          <a:p>
            <a:pPr marL="342900" indent="-342900">
              <a:buFont typeface="Arial" panose="020B0604020202020204" pitchFamily="34" charset="0"/>
              <a:buChar char="•"/>
            </a:pPr>
            <a:r>
              <a:rPr lang="en-US" dirty="0"/>
              <a:t>The system is built using commonly used microcontrollers such as ESP8266 or Arduino, along with standard water quality sensors like pH, turbidity, TDS, and temperature sensors.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The required software tools such as Arduino IDE and cloud platforms like Thing Speak or Firebase are reliable, user-friendly, and well-supported.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Wireless data transmission through Wi-Fi ensures real-time monitoring and remote access to water quality data.</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The system does not require complex hardware or advanced infrastructure, making it easy to design, implement, and maintain.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Hence, from a technical perspective, the project is practical, reliable, and achievable within the available resources and technical skills.</a:t>
            </a:r>
          </a:p>
          <a:p>
            <a:endParaRPr lang="en-IN" dirty="0"/>
          </a:p>
        </p:txBody>
      </p:sp>
    </p:spTree>
    <p:extLst>
      <p:ext uri="{BB962C8B-B14F-4D97-AF65-F5344CB8AC3E}">
        <p14:creationId xmlns:p14="http://schemas.microsoft.com/office/powerpoint/2010/main" val="1751646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381000"/>
            <a:ext cx="8563254" cy="5324535"/>
          </a:xfrm>
        </p:spPr>
        <p:txBody>
          <a:bodyPr/>
          <a:lstStyle/>
          <a:p>
            <a:pPr algn="just"/>
            <a:r>
              <a:rPr lang="en-US" sz="2000" b="1" dirty="0">
                <a:solidFill>
                  <a:srgbClr val="002060"/>
                </a:solidFill>
              </a:rPr>
              <a:t>2.4.2 Robustness &amp; Reliability: </a:t>
            </a:r>
          </a:p>
          <a:p>
            <a:pPr algn="just"/>
            <a:endParaRPr lang="en-US" sz="2000" b="1" dirty="0">
              <a:solidFill>
                <a:srgbClr val="002060"/>
              </a:solidFill>
            </a:endParaRPr>
          </a:p>
          <a:p>
            <a:pPr marL="285750" indent="-285750" algn="just">
              <a:buFont typeface="Arial" panose="020B0604020202020204" pitchFamily="34" charset="0"/>
              <a:buChar char="•"/>
            </a:pPr>
            <a:r>
              <a:rPr lang="en-US" sz="1800" dirty="0"/>
              <a:t>The proposed system is robust and reliable as it uses standard and durable sensors along with a stable microcontroller for continuous operation. Sensor data is regularly transmitted and stored on a cloud platform, ensuring data safety and consistency. </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The alert mechanism provides immediate notification in case of abnormal water quality, enabling timely action. The modular design and periodic sensor calibration further improve the reliability and long-term performance of the system</a:t>
            </a:r>
            <a:endParaRPr lang="en-US" sz="1800" dirty="0">
              <a:solidFill>
                <a:srgbClr val="000000"/>
              </a:solidFill>
              <a:latin typeface="Times New Roman" panose="02020603050405020304" pitchFamily="18" charset="0"/>
              <a:ea typeface="Times New Roman" panose="02020603050405020304" pitchFamily="18" charset="0"/>
            </a:endParaRPr>
          </a:p>
          <a:p>
            <a:pPr algn="just"/>
            <a:endParaRPr lang="en-IN" sz="1800" dirty="0">
              <a:solidFill>
                <a:srgbClr val="000000"/>
              </a:solidFill>
              <a:latin typeface="Times New Roman" panose="02020603050405020304" pitchFamily="18" charset="0"/>
              <a:ea typeface="Times New Roman" panose="02020603050405020304" pitchFamily="18" charset="0"/>
            </a:endParaRPr>
          </a:p>
          <a:p>
            <a:pPr algn="just"/>
            <a:r>
              <a:rPr lang="en-US" sz="1800" b="1" dirty="0">
                <a:solidFill>
                  <a:srgbClr val="002060"/>
                </a:solidFill>
              </a:rPr>
              <a:t>2.4.3 Economic Feasibility:</a:t>
            </a:r>
          </a:p>
          <a:p>
            <a:pPr algn="just"/>
            <a:endParaRPr lang="en-US" sz="1800" b="1" dirty="0">
              <a:solidFill>
                <a:srgbClr val="002060"/>
              </a:solidFill>
            </a:endParaRPr>
          </a:p>
          <a:p>
            <a:pPr marL="285750" indent="-285750" algn="just">
              <a:buFont typeface="Arial" panose="020B0604020202020204" pitchFamily="34" charset="0"/>
              <a:buChar char="•"/>
            </a:pPr>
            <a:r>
              <a:rPr lang="en-US" sz="1800" dirty="0"/>
              <a:t>The proposed IoT based drinking water quality monitoring and alert system is economically feasible as it uses low-cost and easily available hardware components such as sensors and microcontrollers.</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 Open-source software tools and free or low-cost cloud platforms are used, which reduces development and maintenance costs. The system minimizes manual labor and frequent laboratory testing, leading to long-term cost savings</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681719" cy="738664"/>
          </a:xfrm>
        </p:spPr>
        <p:txBody>
          <a:bodyPr/>
          <a:lstStyle/>
          <a:p>
            <a:r>
              <a:rPr lang="en-IN" sz="2400" u="none" spc="-5" dirty="0">
                <a:latin typeface="Times New Roman" panose="02020603050405020304"/>
                <a:cs typeface="Times New Roman" panose="02020603050405020304"/>
              </a:rPr>
              <a:t>3.Architectural Design</a:t>
            </a:r>
            <a:br>
              <a:rPr lang="en-IN" sz="2400" spc="-5" dirty="0">
                <a:latin typeface="Times New Roman" panose="02020603050405020304"/>
                <a:cs typeface="Times New Roman" panose="02020603050405020304"/>
              </a:rPr>
            </a:br>
            <a:endParaRPr lang="en-IN" dirty="0"/>
          </a:p>
        </p:txBody>
      </p:sp>
      <p:sp>
        <p:nvSpPr>
          <p:cNvPr id="3" name="Text Placeholder 2"/>
          <p:cNvSpPr>
            <a:spLocks noGrp="1"/>
          </p:cNvSpPr>
          <p:nvPr>
            <p:ph type="body" idx="1"/>
          </p:nvPr>
        </p:nvSpPr>
        <p:spPr>
          <a:xfrm>
            <a:off x="152645" y="762000"/>
            <a:ext cx="8531860" cy="615553"/>
          </a:xfrm>
        </p:spPr>
        <p:txBody>
          <a:bodyPr/>
          <a:lstStyle/>
          <a:p>
            <a:pPr algn="just"/>
            <a:r>
              <a:rPr lang="en-US" b="1" dirty="0"/>
              <a:t>3.1 Modules Design</a:t>
            </a:r>
          </a:p>
          <a:p>
            <a:pPr algn="just"/>
            <a:endParaRPr lang="en-IN" dirty="0"/>
          </a:p>
        </p:txBody>
      </p:sp>
      <p:sp>
        <p:nvSpPr>
          <p:cNvPr id="5" name="Text Box 4"/>
          <p:cNvSpPr txBox="1"/>
          <p:nvPr/>
        </p:nvSpPr>
        <p:spPr>
          <a:xfrm>
            <a:off x="76200" y="1219200"/>
            <a:ext cx="8909050" cy="5078313"/>
          </a:xfrm>
          <a:prstGeom prst="rect">
            <a:avLst/>
          </a:prstGeom>
        </p:spPr>
        <p:txBody>
          <a:bodyPr wrap="square">
            <a:spAutoFit/>
          </a:bodyPr>
          <a:lstStyle/>
          <a:p>
            <a:r>
              <a:rPr lang="en-US" dirty="0"/>
              <a:t>The architectural design of the proposed system consists of multiple layers that work together to monitor and analyze drinking water quality in real time. At the sensing layer, water quality sensors such as pH, turbidity, TDS, and temperature sensors are deployed to continuously measure water parameters.</a:t>
            </a:r>
          </a:p>
          <a:p>
            <a:endParaRPr lang="en-US" dirty="0">
              <a:latin typeface="Times New Roman" panose="02020603050405020304" pitchFamily="18" charset="0"/>
              <a:cs typeface="Times New Roman" panose="02020603050405020304" pitchFamily="18" charset="0"/>
            </a:endParaRPr>
          </a:p>
          <a:p>
            <a:pPr indent="0">
              <a:buNone/>
            </a:pPr>
            <a:r>
              <a:rPr lang="en-IN" b="1" dirty="0">
                <a:solidFill>
                  <a:schemeClr val="tx2"/>
                </a:solidFill>
              </a:rPr>
              <a:t>Sensing Layer </a:t>
            </a:r>
          </a:p>
          <a:p>
            <a:pPr indent="0">
              <a:buNone/>
            </a:pPr>
            <a:r>
              <a:rPr lang="en-IN" dirty="0">
                <a:solidFill>
                  <a:schemeClr val="tx2"/>
                </a:solidFill>
              </a:rPr>
              <a:t> </a:t>
            </a:r>
            <a:r>
              <a:rPr lang="en-US" dirty="0"/>
              <a:t>Water quality sensors such as pH, turbidity, TDS, and temperature sensors are placed in the water source. These sensors continuously sense and collect real-time water quality parameters.</a:t>
            </a:r>
          </a:p>
          <a:p>
            <a:pPr indent="0">
              <a:buNone/>
            </a:pPr>
            <a:endParaRPr dirty="0">
              <a:latin typeface="Times New Roman" panose="02020603050405020304" pitchFamily="18" charset="0"/>
              <a:cs typeface="Times New Roman" panose="02020603050405020304" pitchFamily="18" charset="0"/>
            </a:endParaRPr>
          </a:p>
          <a:p>
            <a:pPr indent="0">
              <a:buNone/>
            </a:pPr>
            <a:r>
              <a:rPr lang="en-IN" b="1" dirty="0">
                <a:solidFill>
                  <a:schemeClr val="tx2"/>
                </a:solidFill>
              </a:rPr>
              <a:t>Data Acquisition </a:t>
            </a:r>
          </a:p>
          <a:p>
            <a:pPr indent="0">
              <a:buNone/>
            </a:pPr>
            <a:r>
              <a:rPr lang="en-US" dirty="0"/>
              <a:t>The sensors are connected to a microcontroller (ESP8266/</a:t>
            </a:r>
            <a:r>
              <a:rPr lang="en-US" dirty="0" err="1"/>
              <a:t>NodeMCU</a:t>
            </a:r>
            <a:r>
              <a:rPr lang="en-US" dirty="0"/>
              <a:t>). The microcontroller reads the analog sensor values and converts them into digital data. </a:t>
            </a:r>
          </a:p>
          <a:p>
            <a:pPr indent="0">
              <a:buNone/>
            </a:pPr>
            <a:endParaRPr lang="en-US" dirty="0"/>
          </a:p>
          <a:p>
            <a:pPr indent="0">
              <a:buNone/>
            </a:pPr>
            <a:r>
              <a:rPr lang="en-IN" b="1" dirty="0">
                <a:solidFill>
                  <a:schemeClr val="tx2"/>
                </a:solidFill>
              </a:rPr>
              <a:t>Data Processing </a:t>
            </a:r>
          </a:p>
          <a:p>
            <a:pPr indent="0">
              <a:buNone/>
            </a:pPr>
            <a:r>
              <a:rPr lang="en-US" dirty="0"/>
              <a:t>The microcontroller processes the collected sensor data and checks whether the values are within safe drinking water limits.</a:t>
            </a:r>
          </a:p>
          <a:p>
            <a:pPr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879" y="228473"/>
            <a:ext cx="8531860" cy="4585871"/>
          </a:xfrm>
        </p:spPr>
        <p:txBody>
          <a:bodyPr/>
          <a:lstStyle/>
          <a:p>
            <a:pPr indent="0">
              <a:buNone/>
            </a:pPr>
            <a:r>
              <a:rPr lang="en-IN" sz="1800" b="1" dirty="0"/>
              <a:t>Communication Layer</a:t>
            </a:r>
            <a:r>
              <a:rPr lang="en-IN" sz="1800" dirty="0"/>
              <a:t> </a:t>
            </a:r>
          </a:p>
          <a:p>
            <a:pPr indent="0">
              <a:buNone/>
            </a:pPr>
            <a:r>
              <a:rPr lang="en-US" dirty="0">
                <a:solidFill>
                  <a:schemeClr val="tx1"/>
                </a:solidFill>
              </a:rPr>
              <a:t>Using the built-in Wi-Fi module, the processed data is transmitted to the cloud platform through the internet. </a:t>
            </a:r>
          </a:p>
          <a:p>
            <a:pPr indent="0">
              <a:buNone/>
            </a:pPr>
            <a:endParaRPr lang="en-US" dirty="0">
              <a:solidFill>
                <a:schemeClr val="tx1"/>
              </a:solidFill>
            </a:endParaRPr>
          </a:p>
          <a:p>
            <a:pPr indent="0">
              <a:buNone/>
            </a:pPr>
            <a:r>
              <a:rPr lang="en-IN" sz="1800" b="1" dirty="0"/>
              <a:t>Cloud Storage and Analysis</a:t>
            </a:r>
          </a:p>
          <a:p>
            <a:pPr indent="0">
              <a:buNone/>
            </a:pPr>
            <a:r>
              <a:rPr lang="en-US" sz="1800" dirty="0">
                <a:solidFill>
                  <a:schemeClr val="tx1"/>
                </a:solidFill>
              </a:rPr>
              <a:t>The cloud platform stores the received data and performs further analysis. The data is visualized in the form of graphs and charts for easy monitoring</a:t>
            </a:r>
            <a:r>
              <a:rPr lang="en-US" sz="1800" dirty="0"/>
              <a:t>.</a:t>
            </a:r>
          </a:p>
          <a:p>
            <a:pPr indent="0">
              <a:buNone/>
            </a:pPr>
            <a:endParaRPr lang="en-IN" sz="1800" dirty="0"/>
          </a:p>
          <a:p>
            <a:pPr indent="0">
              <a:buNone/>
            </a:pPr>
            <a:r>
              <a:rPr lang="en-IN" sz="1800" b="1" dirty="0"/>
              <a:t>Alert Generation</a:t>
            </a:r>
            <a:br>
              <a:rPr lang="en-IN" sz="1800" dirty="0"/>
            </a:br>
            <a:r>
              <a:rPr lang="en-US" sz="1800" dirty="0">
                <a:solidFill>
                  <a:schemeClr val="tx1"/>
                </a:solidFill>
              </a:rPr>
              <a:t>If any water quality parameter exceeds the permissible limit, the system automatically triggers an alert. </a:t>
            </a:r>
          </a:p>
          <a:p>
            <a:pPr indent="0">
              <a:buNone/>
            </a:pPr>
            <a:endParaRPr lang="en-US" sz="1800" dirty="0"/>
          </a:p>
          <a:p>
            <a:pPr indent="0">
              <a:buNone/>
            </a:pPr>
            <a:r>
              <a:rPr lang="en-IN" sz="1800" b="1" dirty="0"/>
              <a:t>User Interface </a:t>
            </a:r>
          </a:p>
          <a:p>
            <a:pPr indent="0">
              <a:buNone/>
            </a:pPr>
            <a:r>
              <a:rPr lang="en-US" dirty="0">
                <a:solidFill>
                  <a:schemeClr val="tx1"/>
                </a:solidFill>
              </a:rPr>
              <a:t>Users or authorities can access real-time and historical water quality data through a web or mobile dashboard and take necessary actions.</a:t>
            </a:r>
            <a:r>
              <a:rPr sz="1800" dirty="0">
                <a:solidFill>
                  <a:schemeClr val="tx1"/>
                </a:solidFill>
                <a:latin typeface="Times New Roman" panose="02020603050405020304" pitchFamily="18" charset="0"/>
                <a:cs typeface="Times New Roman" panose="02020603050405020304" pitchFamily="18" charset="0"/>
                <a:sym typeface="+mn-ea"/>
              </a:rPr>
              <a:t>.</a:t>
            </a:r>
            <a:endParaRPr sz="1800" dirty="0">
              <a:solidFill>
                <a:schemeClr val="tx1"/>
              </a:solidFill>
              <a:latin typeface="Times New Roman" panose="02020603050405020304" pitchFamily="18" charset="0"/>
              <a:cs typeface="Times New Roman" panose="02020603050405020304" pitchFamily="18" charset="0"/>
            </a:endParaRPr>
          </a:p>
          <a:p>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52400"/>
            <a:ext cx="8836660" cy="6324600"/>
          </a:xfrm>
        </p:spPr>
        <p:txBody>
          <a:bodyPr/>
          <a:lstStyle/>
          <a:p>
            <a:pPr algn="just"/>
            <a:r>
              <a:rPr lang="en-US" sz="1800" b="1" dirty="0">
                <a:latin typeface="Times New Roman" panose="02020603050405020304" pitchFamily="18" charset="0"/>
                <a:cs typeface="Times New Roman" panose="02020603050405020304" pitchFamily="18" charset="0"/>
              </a:rPr>
              <a:t>3.2 Methods and Algorithms:</a:t>
            </a:r>
          </a:p>
          <a:p>
            <a:endParaRPr lang="en-US" sz="1800" b="1" dirty="0">
              <a:latin typeface="Times New Roman" panose="02020603050405020304" pitchFamily="18" charset="0"/>
              <a:cs typeface="Times New Roman" panose="02020603050405020304" pitchFamily="18" charset="0"/>
            </a:endParaRPr>
          </a:p>
          <a:p>
            <a:pPr algn="just"/>
            <a:r>
              <a:rPr lang="en-US" altLang="en-US" sz="1800" b="1" dirty="0">
                <a:latin typeface="Times New Roman" panose="02020603050405020304" pitchFamily="18" charset="0"/>
                <a:cs typeface="Times New Roman" panose="02020603050405020304" pitchFamily="18" charset="0"/>
              </a:rPr>
              <a:t>Methods &amp; Algorithm of  </a:t>
            </a:r>
            <a:r>
              <a:rPr lang="en-US" sz="1800" b="1" dirty="0"/>
              <a:t>IoT Based Drinking Water Quality Monitoring and Alert System</a:t>
            </a:r>
            <a:endParaRPr lang="en-US" altLang="en-US" sz="1800" b="1" dirty="0">
              <a:latin typeface="Times New Roman" panose="02020603050405020304" pitchFamily="18" charset="0"/>
              <a:cs typeface="Times New Roman" panose="02020603050405020304" pitchFamily="18" charset="0"/>
            </a:endParaRPr>
          </a:p>
          <a:p>
            <a:pPr algn="just"/>
            <a:endParaRPr lang="en-US" altLang="en-US" sz="1800" dirty="0">
              <a:latin typeface="Times New Roman" panose="02020603050405020304" pitchFamily="18" charset="0"/>
              <a:cs typeface="Times New Roman" panose="02020603050405020304" pitchFamily="18" charset="0"/>
            </a:endParaRPr>
          </a:p>
          <a:p>
            <a:pPr marL="342900" indent="-342900">
              <a:buAutoNum type="arabicPeriod"/>
            </a:pPr>
            <a:r>
              <a:rPr lang="en-IN" sz="1800" b="1" dirty="0">
                <a:solidFill>
                  <a:schemeClr val="tx2">
                    <a:lumMod val="75000"/>
                  </a:schemeClr>
                </a:solidFill>
              </a:rPr>
              <a:t>Sensor Data Collection Module</a:t>
            </a:r>
          </a:p>
          <a:p>
            <a:r>
              <a:rPr lang="en-US" sz="1800" b="1" dirty="0">
                <a:solidFill>
                  <a:schemeClr val="tx2">
                    <a:lumMod val="75000"/>
                  </a:schemeClr>
                </a:solidFill>
              </a:rPr>
              <a:t>    Method:</a:t>
            </a:r>
          </a:p>
          <a:p>
            <a:pPr marL="285750" indent="-285750">
              <a:buFont typeface="Arial" panose="020B0604020202020204" pitchFamily="34" charset="0"/>
              <a:buChar char="•"/>
            </a:pPr>
            <a:r>
              <a:rPr lang="en-US" sz="1800" dirty="0">
                <a:solidFill>
                  <a:schemeClr val="tx1"/>
                </a:solidFill>
              </a:rPr>
              <a:t>Measures essential drinking water quality parameters using multiple sensors deployed at the water source.</a:t>
            </a:r>
          </a:p>
          <a:p>
            <a:r>
              <a:rPr lang="en-US" sz="1800" b="1" dirty="0"/>
              <a:t>    Algorithm:</a:t>
            </a:r>
            <a:endParaRPr lang="en-US" sz="1800" dirty="0"/>
          </a:p>
          <a:p>
            <a:pPr marL="285750" indent="-285750">
              <a:buFont typeface="Arial" panose="020B0604020202020204" pitchFamily="34" charset="0"/>
              <a:buChar char="•"/>
            </a:pPr>
            <a:r>
              <a:rPr lang="en-US" sz="1800" dirty="0">
                <a:solidFill>
                  <a:schemeClr val="tx1"/>
                </a:solidFill>
              </a:rPr>
              <a:t>System initializes water quality sensors.</a:t>
            </a:r>
          </a:p>
          <a:p>
            <a:pPr marL="285750" indent="-285750">
              <a:buFont typeface="Arial" panose="020B0604020202020204" pitchFamily="34" charset="0"/>
              <a:buChar char="•"/>
            </a:pPr>
            <a:r>
              <a:rPr lang="en-US" sz="1800" dirty="0">
                <a:solidFill>
                  <a:schemeClr val="tx1"/>
                </a:solidFill>
              </a:rPr>
              <a:t>Sensors continuously measure pH, turbidity, TDS, and temperature.</a:t>
            </a:r>
          </a:p>
          <a:p>
            <a:pPr marL="285750" indent="-285750">
              <a:buFont typeface="Arial" panose="020B0604020202020204" pitchFamily="34" charset="0"/>
              <a:buChar char="•"/>
            </a:pPr>
            <a:r>
              <a:rPr lang="en-US" sz="1800" dirty="0">
                <a:solidFill>
                  <a:schemeClr val="tx1"/>
                </a:solidFill>
              </a:rPr>
              <a:t>Raw sensor readings are sent to the microcontroller.</a:t>
            </a:r>
          </a:p>
          <a:p>
            <a:pPr indent="0" algn="just">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a:p>
            <a:r>
              <a:rPr lang="en-IN" sz="1800" b="1" dirty="0"/>
              <a:t>2. Data Acquisition &amp; Preprocessing Module</a:t>
            </a:r>
          </a:p>
          <a:p>
            <a:r>
              <a:rPr lang="en-IN" sz="1800" b="1" dirty="0"/>
              <a:t>    Method:</a:t>
            </a:r>
            <a:br>
              <a:rPr lang="en-IN" sz="1800" dirty="0"/>
            </a:br>
            <a:r>
              <a:rPr lang="en-IN" sz="1800" dirty="0"/>
              <a:t>      </a:t>
            </a:r>
            <a:r>
              <a:rPr lang="en-IN" sz="1800" dirty="0">
                <a:solidFill>
                  <a:schemeClr val="tx1"/>
                </a:solidFill>
              </a:rPr>
              <a:t>Processes raw sensor signals and converts them into meaningful digital values.</a:t>
            </a:r>
          </a:p>
          <a:p>
            <a:r>
              <a:rPr lang="en-IN" sz="1800" b="1" dirty="0"/>
              <a:t>   Algorithm:</a:t>
            </a:r>
            <a:endParaRPr lang="en-IN" sz="1800" dirty="0"/>
          </a:p>
          <a:p>
            <a:pPr marL="285750" indent="-285750">
              <a:buFont typeface="Arial" panose="020B0604020202020204" pitchFamily="34" charset="0"/>
              <a:buChar char="•"/>
            </a:pPr>
            <a:r>
              <a:rPr lang="en-IN" sz="1800" dirty="0">
                <a:solidFill>
                  <a:schemeClr val="tx1"/>
                </a:solidFill>
              </a:rPr>
              <a:t>Microcontroller reads </a:t>
            </a:r>
            <a:r>
              <a:rPr lang="en-IN" sz="1800" dirty="0" err="1">
                <a:solidFill>
                  <a:schemeClr val="tx1"/>
                </a:solidFill>
              </a:rPr>
              <a:t>analog</a:t>
            </a:r>
            <a:r>
              <a:rPr lang="en-IN" sz="1800" dirty="0">
                <a:solidFill>
                  <a:schemeClr val="tx1"/>
                </a:solidFill>
              </a:rPr>
              <a:t> sensor signals.</a:t>
            </a:r>
          </a:p>
          <a:p>
            <a:pPr marL="285750" indent="-285750">
              <a:buFont typeface="Arial" panose="020B0604020202020204" pitchFamily="34" charset="0"/>
              <a:buChar char="•"/>
            </a:pPr>
            <a:r>
              <a:rPr lang="en-IN" sz="1800" dirty="0">
                <a:solidFill>
                  <a:schemeClr val="tx1"/>
                </a:solidFill>
              </a:rPr>
              <a:t>Signals are converted into digital format.</a:t>
            </a:r>
          </a:p>
          <a:p>
            <a:pPr marL="285750" indent="-285750">
              <a:buFont typeface="Arial" panose="020B0604020202020204" pitchFamily="34" charset="0"/>
              <a:buChar char="•"/>
            </a:pPr>
            <a:r>
              <a:rPr lang="en-IN" sz="1800" dirty="0">
                <a:solidFill>
                  <a:schemeClr val="tx1"/>
                </a:solidFill>
              </a:rPr>
              <a:t>Noise filtering and value normalization are applied.</a:t>
            </a:r>
          </a:p>
          <a:p>
            <a:pPr marL="285750" indent="-285750">
              <a:buFont typeface="Arial" panose="020B0604020202020204" pitchFamily="34" charset="0"/>
              <a:buChar char="•"/>
            </a:pPr>
            <a:r>
              <a:rPr lang="en-IN" sz="1800" dirty="0" err="1">
                <a:solidFill>
                  <a:schemeClr val="tx1"/>
                </a:solidFill>
              </a:rPr>
              <a:t>Preprocessed</a:t>
            </a:r>
            <a:r>
              <a:rPr lang="en-IN" sz="1800" dirty="0">
                <a:solidFill>
                  <a:schemeClr val="tx1"/>
                </a:solidFill>
              </a:rPr>
              <a:t> data is forwarded for analysis.</a:t>
            </a:r>
          </a:p>
          <a:p>
            <a:pPr algn="just"/>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228600"/>
            <a:ext cx="8684260" cy="7201972"/>
          </a:xfrm>
        </p:spPr>
        <p:txBody>
          <a:bodyPr/>
          <a:lstStyle/>
          <a:p>
            <a:r>
              <a:rPr lang="en-US" sz="1800" b="1" dirty="0"/>
              <a:t>3. Threshold Comparison &amp; Decision Module</a:t>
            </a:r>
          </a:p>
          <a:p>
            <a:r>
              <a:rPr lang="en-US" sz="1800" b="1" dirty="0"/>
              <a:t>   Method:</a:t>
            </a:r>
            <a:br>
              <a:rPr lang="en-US" sz="1800" dirty="0"/>
            </a:br>
            <a:r>
              <a:rPr lang="en-US" sz="1800" dirty="0">
                <a:solidFill>
                  <a:schemeClr val="tx1"/>
                </a:solidFill>
              </a:rPr>
              <a:t>Determines whether the water quality is safe by comparing sensor values with standard limits.</a:t>
            </a:r>
          </a:p>
          <a:p>
            <a:r>
              <a:rPr lang="en-US" sz="1800" b="1" dirty="0"/>
              <a:t>   Algorithm:</a:t>
            </a:r>
            <a:endParaRPr lang="en-US" sz="1800" dirty="0"/>
          </a:p>
          <a:p>
            <a:pPr marL="285750" indent="-285750">
              <a:buFont typeface="Arial" panose="020B0604020202020204" pitchFamily="34" charset="0"/>
              <a:buChar char="•"/>
            </a:pPr>
            <a:r>
              <a:rPr lang="en-US" sz="1800" dirty="0">
                <a:solidFill>
                  <a:schemeClr val="tx1"/>
                </a:solidFill>
              </a:rPr>
              <a:t>Receive processed sensor values.</a:t>
            </a:r>
          </a:p>
          <a:p>
            <a:pPr marL="285750" indent="-285750">
              <a:buFont typeface="Arial" panose="020B0604020202020204" pitchFamily="34" charset="0"/>
              <a:buChar char="•"/>
            </a:pPr>
            <a:r>
              <a:rPr lang="en-US" sz="1800" dirty="0">
                <a:solidFill>
                  <a:schemeClr val="tx1"/>
                </a:solidFill>
              </a:rPr>
              <a:t>Compare each parameter with predefined safe drinking water thresholds.</a:t>
            </a:r>
          </a:p>
          <a:p>
            <a:pPr marL="285750" indent="-285750">
              <a:buFont typeface="Arial" panose="020B0604020202020204" pitchFamily="34" charset="0"/>
              <a:buChar char="•"/>
            </a:pPr>
            <a:r>
              <a:rPr lang="en-US" sz="1800" dirty="0">
                <a:solidFill>
                  <a:schemeClr val="tx1"/>
                </a:solidFill>
              </a:rPr>
              <a:t>If all values are within limits, mark water as safe.</a:t>
            </a:r>
          </a:p>
          <a:p>
            <a:pPr marL="285750" indent="-285750">
              <a:buFont typeface="Arial" panose="020B0604020202020204" pitchFamily="34" charset="0"/>
              <a:buChar char="•"/>
            </a:pPr>
            <a:r>
              <a:rPr lang="en-US" sz="1800" dirty="0">
                <a:solidFill>
                  <a:schemeClr val="tx1"/>
                </a:solidFill>
              </a:rPr>
              <a:t>If any value exceeds limits, mark water as unsafe.</a:t>
            </a:r>
          </a:p>
          <a:p>
            <a:r>
              <a:rPr lang="en-IN" sz="1800" b="1" dirty="0"/>
              <a:t>4. Data Transmission to Cloud Module</a:t>
            </a:r>
          </a:p>
          <a:p>
            <a:r>
              <a:rPr lang="en-IN" sz="1800" b="1" dirty="0"/>
              <a:t>    Method:</a:t>
            </a:r>
            <a:br>
              <a:rPr lang="en-IN" sz="1800" dirty="0"/>
            </a:br>
            <a:r>
              <a:rPr lang="en-IN" sz="1800" dirty="0">
                <a:solidFill>
                  <a:schemeClr val="tx1"/>
                </a:solidFill>
              </a:rPr>
              <a:t>Uploads real-time sensor data to the cloud platform using internet connectivity</a:t>
            </a:r>
            <a:r>
              <a:rPr lang="en-IN" sz="1800" dirty="0"/>
              <a:t>.</a:t>
            </a:r>
          </a:p>
          <a:p>
            <a:r>
              <a:rPr lang="en-IN" sz="1800" b="1" dirty="0"/>
              <a:t>   Algorithm:</a:t>
            </a:r>
            <a:endParaRPr lang="en-IN" sz="1800" dirty="0"/>
          </a:p>
          <a:p>
            <a:pPr marL="285750" indent="-285750">
              <a:buFont typeface="Arial" panose="020B0604020202020204" pitchFamily="34" charset="0"/>
              <a:buChar char="•"/>
            </a:pPr>
            <a:r>
              <a:rPr lang="en-IN" sz="1800" dirty="0">
                <a:solidFill>
                  <a:schemeClr val="tx1"/>
                </a:solidFill>
              </a:rPr>
              <a:t>Establish Wi-Fi connection.</a:t>
            </a:r>
          </a:p>
          <a:p>
            <a:pPr marL="285750" indent="-285750">
              <a:buFont typeface="Arial" panose="020B0604020202020204" pitchFamily="34" charset="0"/>
              <a:buChar char="•"/>
            </a:pPr>
            <a:r>
              <a:rPr lang="en-IN" sz="1800" dirty="0">
                <a:solidFill>
                  <a:schemeClr val="tx1"/>
                </a:solidFill>
              </a:rPr>
              <a:t>Package sensor data in required format.</a:t>
            </a:r>
          </a:p>
          <a:p>
            <a:pPr marL="285750" indent="-285750">
              <a:buFont typeface="Arial" panose="020B0604020202020204" pitchFamily="34" charset="0"/>
              <a:buChar char="•"/>
            </a:pPr>
            <a:r>
              <a:rPr lang="en-IN" sz="1800" dirty="0">
                <a:solidFill>
                  <a:schemeClr val="tx1"/>
                </a:solidFill>
              </a:rPr>
              <a:t>Transmit data to cloud platform.</a:t>
            </a:r>
          </a:p>
          <a:p>
            <a:pPr marL="285750" indent="-285750">
              <a:buFont typeface="Arial" panose="020B0604020202020204" pitchFamily="34" charset="0"/>
              <a:buChar char="•"/>
            </a:pPr>
            <a:r>
              <a:rPr lang="en-IN" sz="1800" dirty="0">
                <a:solidFill>
                  <a:schemeClr val="tx1"/>
                </a:solidFill>
              </a:rPr>
              <a:t>Confirm successful data upload.</a:t>
            </a:r>
          </a:p>
          <a:p>
            <a:r>
              <a:rPr lang="en-IN" sz="1800" b="1" dirty="0"/>
              <a:t>5. Cloud Storage &amp; Analytics Module</a:t>
            </a:r>
          </a:p>
          <a:p>
            <a:r>
              <a:rPr lang="en-IN" sz="1800" b="1" dirty="0"/>
              <a:t>    Method:</a:t>
            </a:r>
            <a:br>
              <a:rPr lang="en-IN" sz="1800" dirty="0"/>
            </a:br>
            <a:r>
              <a:rPr lang="en-IN" sz="1800" dirty="0">
                <a:solidFill>
                  <a:schemeClr val="tx1"/>
                </a:solidFill>
              </a:rPr>
              <a:t>Stores and </a:t>
            </a:r>
            <a:r>
              <a:rPr lang="en-IN" sz="1800" dirty="0" err="1">
                <a:solidFill>
                  <a:schemeClr val="tx1"/>
                </a:solidFill>
              </a:rPr>
              <a:t>analyzes</a:t>
            </a:r>
            <a:r>
              <a:rPr lang="en-IN" sz="1800" dirty="0">
                <a:solidFill>
                  <a:schemeClr val="tx1"/>
                </a:solidFill>
              </a:rPr>
              <a:t> water quality data for real-time and historical monitoring.</a:t>
            </a:r>
          </a:p>
          <a:p>
            <a:r>
              <a:rPr lang="en-IN" sz="1800" b="1" dirty="0"/>
              <a:t>   Algorithm:</a:t>
            </a:r>
            <a:endParaRPr lang="en-IN" sz="1800" dirty="0"/>
          </a:p>
          <a:p>
            <a:pPr marL="285750" indent="-285750">
              <a:buFont typeface="Arial" panose="020B0604020202020204" pitchFamily="34" charset="0"/>
              <a:buChar char="•"/>
            </a:pPr>
            <a:r>
              <a:rPr lang="en-IN" sz="1800" dirty="0">
                <a:solidFill>
                  <a:schemeClr val="tx1"/>
                </a:solidFill>
              </a:rPr>
              <a:t>Receive sensor data from microcontroller.</a:t>
            </a:r>
          </a:p>
          <a:p>
            <a:pPr marL="285750" indent="-285750">
              <a:buFont typeface="Arial" panose="020B0604020202020204" pitchFamily="34" charset="0"/>
              <a:buChar char="•"/>
            </a:pPr>
            <a:r>
              <a:rPr lang="en-IN" sz="1800" dirty="0">
                <a:solidFill>
                  <a:schemeClr val="tx1"/>
                </a:solidFill>
              </a:rPr>
              <a:t>Store data in cloud database.</a:t>
            </a:r>
          </a:p>
          <a:p>
            <a:pPr marL="285750" indent="-285750">
              <a:buFont typeface="Arial" panose="020B0604020202020204" pitchFamily="34" charset="0"/>
              <a:buChar char="•"/>
            </a:pPr>
            <a:r>
              <a:rPr lang="en-IN" sz="1800" dirty="0">
                <a:solidFill>
                  <a:schemeClr val="tx1"/>
                </a:solidFill>
              </a:rPr>
              <a:t>Generate graphs and visual reports.</a:t>
            </a:r>
          </a:p>
          <a:p>
            <a:pPr marL="285750" indent="-285750">
              <a:buFont typeface="Arial" panose="020B0604020202020204" pitchFamily="34" charset="0"/>
              <a:buChar char="•"/>
            </a:pPr>
            <a:endParaRPr lang="en-IN" sz="1800" dirty="0">
              <a:solidFill>
                <a:schemeClr val="tx1"/>
              </a:solidFill>
            </a:endParaRPr>
          </a:p>
          <a:p>
            <a:pPr marL="285750" indent="-285750">
              <a:buFont typeface="Arial" panose="020B0604020202020204" pitchFamily="34" charset="0"/>
              <a:buChar char="•"/>
            </a:pPr>
            <a:endParaRPr lang="en-US" sz="1800" dirty="0"/>
          </a:p>
          <a:p>
            <a:pPr algn="just"/>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304800"/>
            <a:ext cx="8763000" cy="5355312"/>
          </a:xfrm>
          <a:prstGeom prst="rect">
            <a:avLst/>
          </a:prstGeom>
        </p:spPr>
        <p:txBody>
          <a:bodyPr wrap="square">
            <a:spAutoFit/>
          </a:bodyPr>
          <a:lstStyle/>
          <a:p>
            <a:r>
              <a:rPr lang="en-IN" b="1" dirty="0">
                <a:solidFill>
                  <a:schemeClr val="tx2">
                    <a:lumMod val="75000"/>
                  </a:schemeClr>
                </a:solidFill>
              </a:rPr>
              <a:t>6. Alert &amp; Notification Module</a:t>
            </a:r>
          </a:p>
          <a:p>
            <a:r>
              <a:rPr lang="en-IN" b="1" dirty="0">
                <a:solidFill>
                  <a:schemeClr val="tx2">
                    <a:lumMod val="75000"/>
                  </a:schemeClr>
                </a:solidFill>
              </a:rPr>
              <a:t>Method:</a:t>
            </a:r>
            <a:br>
              <a:rPr lang="en-IN" dirty="0"/>
            </a:br>
            <a:r>
              <a:rPr lang="en-IN" dirty="0"/>
              <a:t>Generates alerts when water quality parameters exceed safe limits.</a:t>
            </a:r>
          </a:p>
          <a:p>
            <a:r>
              <a:rPr lang="en-IN" b="1" dirty="0">
                <a:solidFill>
                  <a:schemeClr val="tx2">
                    <a:lumMod val="75000"/>
                  </a:schemeClr>
                </a:solidFill>
              </a:rPr>
              <a:t>Algorithm:</a:t>
            </a:r>
            <a:endParaRPr lang="en-IN" dirty="0">
              <a:solidFill>
                <a:schemeClr val="tx2">
                  <a:lumMod val="75000"/>
                </a:schemeClr>
              </a:solidFill>
            </a:endParaRPr>
          </a:p>
          <a:p>
            <a:pPr marL="285750" indent="-285750">
              <a:buFont typeface="Arial" panose="020B0604020202020204" pitchFamily="34" charset="0"/>
              <a:buChar char="•"/>
            </a:pPr>
            <a:r>
              <a:rPr lang="en-IN" dirty="0"/>
              <a:t>Monitor </a:t>
            </a:r>
            <a:r>
              <a:rPr lang="en-IN" dirty="0" err="1"/>
              <a:t>analyzed</a:t>
            </a:r>
            <a:r>
              <a:rPr lang="en-IN" dirty="0"/>
              <a:t> data continuously.</a:t>
            </a:r>
          </a:p>
          <a:p>
            <a:pPr marL="285750" indent="-285750">
              <a:buFont typeface="Arial" panose="020B0604020202020204" pitchFamily="34" charset="0"/>
              <a:buChar char="•"/>
            </a:pPr>
            <a:r>
              <a:rPr lang="en-IN" dirty="0"/>
              <a:t>If unsafe condition detected:</a:t>
            </a:r>
          </a:p>
          <a:p>
            <a:pPr marL="742950" lvl="1" indent="-285750">
              <a:buFont typeface="Arial" panose="020B0604020202020204" pitchFamily="34" charset="0"/>
              <a:buChar char="•"/>
            </a:pPr>
            <a:r>
              <a:rPr lang="en-IN" dirty="0"/>
              <a:t>Trigger alert mechanism.</a:t>
            </a:r>
          </a:p>
          <a:p>
            <a:pPr marL="742950" lvl="1" indent="-285750">
              <a:buFont typeface="Arial" panose="020B0604020202020204" pitchFamily="34" charset="0"/>
              <a:buChar char="•"/>
            </a:pPr>
            <a:r>
              <a:rPr lang="en-IN" dirty="0"/>
              <a:t>Send notification to user/authority.</a:t>
            </a:r>
          </a:p>
          <a:p>
            <a:pPr marL="285750" indent="-285750">
              <a:buFont typeface="Arial" panose="020B0604020202020204" pitchFamily="34" charset="0"/>
              <a:buChar char="•"/>
            </a:pPr>
            <a:r>
              <a:rPr lang="en-IN" dirty="0"/>
              <a:t>Log alert details in system.</a:t>
            </a:r>
          </a:p>
          <a:p>
            <a:endParaRPr lang="en-US" dirty="0">
              <a:latin typeface="Times New Roman" panose="02020603050405020304" pitchFamily="18" charset="0"/>
              <a:cs typeface="Times New Roman" panose="02020603050405020304" pitchFamily="18" charset="0"/>
            </a:endParaRPr>
          </a:p>
          <a:p>
            <a:r>
              <a:rPr lang="en-US" b="1" dirty="0"/>
              <a:t>7. </a:t>
            </a:r>
            <a:r>
              <a:rPr lang="en-US" b="1" dirty="0">
                <a:solidFill>
                  <a:schemeClr val="tx2">
                    <a:lumMod val="75000"/>
                  </a:schemeClr>
                </a:solidFill>
              </a:rPr>
              <a:t>User Interface &amp; Monitoring Module</a:t>
            </a:r>
          </a:p>
          <a:p>
            <a:r>
              <a:rPr lang="en-US" b="1" dirty="0">
                <a:solidFill>
                  <a:schemeClr val="tx2">
                    <a:lumMod val="75000"/>
                  </a:schemeClr>
                </a:solidFill>
              </a:rPr>
              <a:t>Method:</a:t>
            </a:r>
            <a:br>
              <a:rPr lang="en-US" dirty="0"/>
            </a:br>
            <a:r>
              <a:rPr lang="en-US" dirty="0"/>
              <a:t>Allows users to remotely monitor water quality through a dashboard.</a:t>
            </a:r>
          </a:p>
          <a:p>
            <a:r>
              <a:rPr lang="en-US" b="1" dirty="0">
                <a:solidFill>
                  <a:schemeClr val="tx2">
                    <a:lumMod val="75000"/>
                  </a:schemeClr>
                </a:solidFill>
              </a:rPr>
              <a:t>Algorithm:</a:t>
            </a:r>
            <a:endParaRPr lang="en-US" dirty="0">
              <a:solidFill>
                <a:schemeClr val="tx2">
                  <a:lumMod val="75000"/>
                </a:schemeClr>
              </a:solidFill>
            </a:endParaRPr>
          </a:p>
          <a:p>
            <a:pPr marL="285750" indent="-285750">
              <a:buFont typeface="Arial" panose="020B0604020202020204" pitchFamily="34" charset="0"/>
              <a:buChar char="•"/>
            </a:pPr>
            <a:r>
              <a:rPr lang="en-US" dirty="0"/>
              <a:t>User logs into dashboard.</a:t>
            </a:r>
          </a:p>
          <a:p>
            <a:pPr marL="285750" indent="-285750">
              <a:buFont typeface="Arial" panose="020B0604020202020204" pitchFamily="34" charset="0"/>
              <a:buChar char="•"/>
            </a:pPr>
            <a:r>
              <a:rPr lang="en-US" dirty="0"/>
              <a:t>Fetch real-time and historical data from cloud.</a:t>
            </a:r>
          </a:p>
          <a:p>
            <a:pPr marL="285750" indent="-285750">
              <a:buFont typeface="Arial" panose="020B0604020202020204" pitchFamily="34" charset="0"/>
              <a:buChar char="•"/>
            </a:pPr>
            <a:r>
              <a:rPr lang="en-US" dirty="0"/>
              <a:t>Display readings in graphical format.</a:t>
            </a:r>
          </a:p>
          <a:p>
            <a:pPr marL="285750" indent="-285750">
              <a:buFont typeface="Arial" panose="020B0604020202020204" pitchFamily="34" charset="0"/>
              <a:buChar char="•"/>
            </a:pPr>
            <a:r>
              <a:rPr lang="en-US" dirty="0"/>
              <a:t>Show alert notifications if present.</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372070"/>
            <a:ext cx="8531860" cy="1846659"/>
          </a:xfrm>
        </p:spPr>
        <p:txBody>
          <a:bodyPr/>
          <a:lstStyle/>
          <a:p>
            <a:pPr algn="just"/>
            <a:r>
              <a:rPr lang="en-US" b="1" dirty="0"/>
              <a:t>3.3 Project Architecture:</a:t>
            </a:r>
          </a:p>
          <a:p>
            <a:pPr algn="just"/>
            <a:r>
              <a:rPr lang="en-US" b="1" dirty="0"/>
              <a:t>3.3.1 Architecture Diagram:</a:t>
            </a:r>
          </a:p>
          <a:p>
            <a:pPr algn="just"/>
            <a:endParaRPr lang="en-US" dirty="0"/>
          </a:p>
          <a:p>
            <a:pPr algn="just"/>
            <a:endParaRPr lang="en-US" dirty="0"/>
          </a:p>
          <a:p>
            <a:pPr algn="just"/>
            <a:endParaRPr lang="en-US" dirty="0"/>
          </a:p>
          <a:p>
            <a:pPr algn="just"/>
            <a:endParaRPr lang="en-IN" dirty="0"/>
          </a:p>
        </p:txBody>
      </p:sp>
      <p:pic>
        <p:nvPicPr>
          <p:cNvPr id="1026" name="Picture 2" descr="PlantUML Diagram">
            <a:extLst>
              <a:ext uri="{FF2B5EF4-FFF2-40B4-BE49-F238E27FC236}">
                <a16:creationId xmlns:a16="http://schemas.microsoft.com/office/drawing/2014/main" id="{15ED2C6E-8122-2661-A18D-94F71CC87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143000"/>
            <a:ext cx="6629400" cy="53704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4178" y="304800"/>
            <a:ext cx="8531860" cy="307777"/>
          </a:xfrm>
        </p:spPr>
        <p:txBody>
          <a:bodyPr/>
          <a:lstStyle/>
          <a:p>
            <a:r>
              <a:rPr lang="en-IN" b="1" dirty="0"/>
              <a:t>3.2.2  Class Diagram:</a:t>
            </a:r>
          </a:p>
        </p:txBody>
      </p:sp>
      <p:pic>
        <p:nvPicPr>
          <p:cNvPr id="2052" name="Picture 4" descr="PlantUML Diagram">
            <a:extLst>
              <a:ext uri="{FF2B5EF4-FFF2-40B4-BE49-F238E27FC236}">
                <a16:creationId xmlns:a16="http://schemas.microsoft.com/office/drawing/2014/main" id="{3811716F-1410-FD95-242B-7DC04FDD5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838200"/>
            <a:ext cx="6172200" cy="5791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140" y="99948"/>
            <a:ext cx="8681719" cy="738664"/>
          </a:xfrm>
        </p:spPr>
        <p:txBody>
          <a:bodyPr/>
          <a:lstStyle/>
          <a:p>
            <a:br>
              <a:rPr lang="en-US" dirty="0"/>
            </a:br>
            <a:endParaRPr lang="en-IN" dirty="0"/>
          </a:p>
        </p:txBody>
      </p:sp>
      <p:sp>
        <p:nvSpPr>
          <p:cNvPr id="3" name="Text Placeholder 2"/>
          <p:cNvSpPr>
            <a:spLocks noGrp="1"/>
          </p:cNvSpPr>
          <p:nvPr>
            <p:ph type="body" idx="1"/>
          </p:nvPr>
        </p:nvSpPr>
        <p:spPr>
          <a:xfrm>
            <a:off x="88265" y="202239"/>
            <a:ext cx="8531860" cy="615553"/>
          </a:xfrm>
        </p:spPr>
        <p:txBody>
          <a:bodyPr/>
          <a:lstStyle/>
          <a:p>
            <a:pPr algn="just"/>
            <a:r>
              <a:rPr lang="en-US" b="1" dirty="0"/>
              <a:t>  3.2.3 Use Case Diagram:</a:t>
            </a:r>
          </a:p>
          <a:p>
            <a:pPr algn="just"/>
            <a:endParaRPr lang="en-US" b="1" dirty="0"/>
          </a:p>
        </p:txBody>
      </p:sp>
      <p:pic>
        <p:nvPicPr>
          <p:cNvPr id="5122" name="Picture 2" descr="PlantUML Diagram">
            <a:extLst>
              <a:ext uri="{FF2B5EF4-FFF2-40B4-BE49-F238E27FC236}">
                <a16:creationId xmlns:a16="http://schemas.microsoft.com/office/drawing/2014/main" id="{EE478185-1144-65C5-BE31-CC9C7B2F23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00200"/>
            <a:ext cx="8010525" cy="3733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 y="609600"/>
            <a:ext cx="8610182" cy="923330"/>
          </a:xfrm>
        </p:spPr>
        <p:txBody>
          <a:bodyPr/>
          <a:lstStyle/>
          <a:p>
            <a:r>
              <a:rPr lang="en-US" b="1" dirty="0"/>
              <a:t>  3.2.4 Sequence Diagram:</a:t>
            </a:r>
          </a:p>
          <a:p>
            <a:endParaRPr lang="en-US" b="1" dirty="0"/>
          </a:p>
          <a:p>
            <a:endParaRPr lang="en-IN" b="1" dirty="0"/>
          </a:p>
        </p:txBody>
      </p:sp>
      <p:pic>
        <p:nvPicPr>
          <p:cNvPr id="6146" name="Picture 2" descr="PlantUML Diagram">
            <a:extLst>
              <a:ext uri="{FF2B5EF4-FFF2-40B4-BE49-F238E27FC236}">
                <a16:creationId xmlns:a16="http://schemas.microsoft.com/office/drawing/2014/main" id="{BBC60335-2D6B-E5A1-D75B-B378E5067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31" y="1143000"/>
            <a:ext cx="8358546"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4487" y="99948"/>
            <a:ext cx="8531860" cy="615553"/>
          </a:xfrm>
        </p:spPr>
        <p:txBody>
          <a:bodyPr/>
          <a:lstStyle/>
          <a:p>
            <a:r>
              <a:rPr lang="en-US" b="1" dirty="0"/>
              <a:t>3.2.5 Activity Diagram:</a:t>
            </a:r>
          </a:p>
          <a:p>
            <a:endParaRPr lang="en-IN" dirty="0"/>
          </a:p>
        </p:txBody>
      </p:sp>
      <p:pic>
        <p:nvPicPr>
          <p:cNvPr id="7170" name="Picture 2" descr="PlantUML Diagram">
            <a:extLst>
              <a:ext uri="{FF2B5EF4-FFF2-40B4-BE49-F238E27FC236}">
                <a16:creationId xmlns:a16="http://schemas.microsoft.com/office/drawing/2014/main" id="{4293502F-C0CE-BD8B-E16A-D86A6F9E1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715501"/>
            <a:ext cx="6953250" cy="5456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6561DD-0955-6959-61CB-EC71D594941D}"/>
              </a:ext>
            </a:extLst>
          </p:cNvPr>
          <p:cNvSpPr txBox="1"/>
          <p:nvPr/>
        </p:nvSpPr>
        <p:spPr>
          <a:xfrm>
            <a:off x="228600" y="304801"/>
            <a:ext cx="9296400" cy="6340197"/>
          </a:xfrm>
          <a:prstGeom prst="rect">
            <a:avLst/>
          </a:prstGeom>
          <a:noFill/>
        </p:spPr>
        <p:txBody>
          <a:bodyPr wrap="square">
            <a:spAutoFit/>
          </a:bodyPr>
          <a:lstStyle/>
          <a:p>
            <a:r>
              <a:rPr lang="en-US" sz="2800" dirty="0">
                <a:solidFill>
                  <a:srgbClr val="FF0000"/>
                </a:solidFill>
              </a:rPr>
              <a:t>4. Implementation &amp; Testing</a:t>
            </a:r>
            <a:endParaRPr lang="en-IN" sz="2800" dirty="0">
              <a:solidFill>
                <a:srgbClr val="FF0000"/>
              </a:solidFill>
            </a:endParaRPr>
          </a:p>
          <a:p>
            <a:endParaRPr lang="en-IN" dirty="0"/>
          </a:p>
          <a:p>
            <a:endParaRPr lang="en-IN" dirty="0"/>
          </a:p>
          <a:p>
            <a:r>
              <a:rPr lang="en-IN" dirty="0"/>
              <a:t>#define BLYNK_PRINT Serial</a:t>
            </a:r>
          </a:p>
          <a:p>
            <a:r>
              <a:rPr lang="en-IN" dirty="0"/>
              <a:t>#include &lt;</a:t>
            </a:r>
            <a:r>
              <a:rPr lang="en-IN" dirty="0" err="1"/>
              <a:t>WiFi.h</a:t>
            </a:r>
            <a:r>
              <a:rPr lang="en-IN" dirty="0"/>
              <a:t>&gt;</a:t>
            </a:r>
          </a:p>
          <a:p>
            <a:r>
              <a:rPr lang="en-IN" dirty="0"/>
              <a:t>#include &lt;BlynkSimpleEsp32.h&gt;</a:t>
            </a:r>
          </a:p>
          <a:p>
            <a:r>
              <a:rPr lang="en-IN" dirty="0"/>
              <a:t>// Blynk </a:t>
            </a:r>
            <a:r>
              <a:rPr lang="en-IN" dirty="0" err="1"/>
              <a:t>Credentials#define</a:t>
            </a:r>
            <a:r>
              <a:rPr lang="en-IN" dirty="0"/>
              <a:t> BLYNK_TEMPLATE_ID "YOUR_TEMPLATE_ID“</a:t>
            </a:r>
          </a:p>
          <a:p>
            <a:r>
              <a:rPr lang="en-IN" dirty="0"/>
              <a:t>#define BLYNK_DEVICE_NAME "</a:t>
            </a:r>
            <a:r>
              <a:rPr lang="en-IN" dirty="0" err="1"/>
              <a:t>WaterMonitor</a:t>
            </a:r>
            <a:r>
              <a:rPr lang="en-IN" dirty="0"/>
              <a:t>“</a:t>
            </a:r>
          </a:p>
          <a:p>
            <a:r>
              <a:rPr lang="en-IN" dirty="0"/>
              <a:t>#define BLYNK_AUTH_TOKEN "YOUR_AUTH_TOKEN“</a:t>
            </a:r>
          </a:p>
          <a:p>
            <a:r>
              <a:rPr lang="en-IN" dirty="0"/>
              <a:t>char </a:t>
            </a:r>
            <a:r>
              <a:rPr lang="en-IN" dirty="0" err="1"/>
              <a:t>ssid</a:t>
            </a:r>
            <a:r>
              <a:rPr lang="en-IN" dirty="0"/>
              <a:t>[] = "YOUR_WIFI";</a:t>
            </a:r>
          </a:p>
          <a:p>
            <a:r>
              <a:rPr lang="en-IN" dirty="0"/>
              <a:t>char pass[] = "YOUR_PASSWORD";</a:t>
            </a:r>
          </a:p>
          <a:p>
            <a:r>
              <a:rPr lang="en-IN" dirty="0"/>
              <a:t>// Pins</a:t>
            </a:r>
          </a:p>
          <a:p>
            <a:r>
              <a:rPr lang="en-IN" dirty="0"/>
              <a:t>#define PH_PIN 34</a:t>
            </a:r>
          </a:p>
          <a:p>
            <a:r>
              <a:rPr lang="en-IN" dirty="0"/>
              <a:t>#define TURB_PIN 35</a:t>
            </a:r>
          </a:p>
          <a:p>
            <a:r>
              <a:rPr lang="en-IN" dirty="0"/>
              <a:t>#define TDS_PIN 32</a:t>
            </a:r>
          </a:p>
          <a:p>
            <a:r>
              <a:rPr lang="en-IN" dirty="0"/>
              <a:t>#define BUZZER_PIN 25</a:t>
            </a:r>
          </a:p>
          <a:p>
            <a:r>
              <a:rPr lang="en-IN" dirty="0"/>
              <a:t>// Safe Limits</a:t>
            </a:r>
          </a:p>
          <a:p>
            <a:r>
              <a:rPr lang="en-IN" dirty="0"/>
              <a:t>float </a:t>
            </a:r>
            <a:r>
              <a:rPr lang="en-IN" dirty="0" err="1"/>
              <a:t>ph_min</a:t>
            </a:r>
            <a:r>
              <a:rPr lang="en-IN" dirty="0"/>
              <a:t> = 6.5;</a:t>
            </a:r>
          </a:p>
          <a:p>
            <a:r>
              <a:rPr lang="en-IN" dirty="0"/>
              <a:t>float </a:t>
            </a:r>
            <a:r>
              <a:rPr lang="en-IN" dirty="0" err="1"/>
              <a:t>ph_max</a:t>
            </a:r>
            <a:r>
              <a:rPr lang="en-IN" dirty="0"/>
              <a:t> = 8.5;</a:t>
            </a:r>
          </a:p>
          <a:p>
            <a:r>
              <a:rPr lang="en-IN" dirty="0"/>
              <a:t>float </a:t>
            </a:r>
            <a:r>
              <a:rPr lang="en-IN" dirty="0" err="1"/>
              <a:t>turb_max</a:t>
            </a:r>
            <a:r>
              <a:rPr lang="en-IN" dirty="0"/>
              <a:t> = 5.0;</a:t>
            </a:r>
          </a:p>
          <a:p>
            <a:r>
              <a:rPr lang="en-IN" dirty="0"/>
              <a:t>float </a:t>
            </a:r>
            <a:r>
              <a:rPr lang="en-IN" dirty="0" err="1"/>
              <a:t>tds_max</a:t>
            </a:r>
            <a:r>
              <a:rPr lang="en-IN" dirty="0"/>
              <a:t> = 500.0;</a:t>
            </a:r>
          </a:p>
          <a:p>
            <a:endParaRPr lang="en-IN" dirty="0"/>
          </a:p>
        </p:txBody>
      </p:sp>
    </p:spTree>
    <p:extLst>
      <p:ext uri="{BB962C8B-B14F-4D97-AF65-F5344CB8AC3E}">
        <p14:creationId xmlns:p14="http://schemas.microsoft.com/office/powerpoint/2010/main" val="4146975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93E168-BD03-2C72-8F21-1EAD81F74637}"/>
              </a:ext>
            </a:extLst>
          </p:cNvPr>
          <p:cNvSpPr txBox="1"/>
          <p:nvPr/>
        </p:nvSpPr>
        <p:spPr>
          <a:xfrm>
            <a:off x="152400" y="533400"/>
            <a:ext cx="6705600" cy="5355312"/>
          </a:xfrm>
          <a:prstGeom prst="rect">
            <a:avLst/>
          </a:prstGeom>
          <a:noFill/>
        </p:spPr>
        <p:txBody>
          <a:bodyPr wrap="square">
            <a:spAutoFit/>
          </a:bodyPr>
          <a:lstStyle/>
          <a:p>
            <a:r>
              <a:rPr lang="en-IN" dirty="0" err="1"/>
              <a:t>BlynkTimer</a:t>
            </a:r>
            <a:r>
              <a:rPr lang="en-IN" dirty="0"/>
              <a:t> timer;</a:t>
            </a:r>
          </a:p>
          <a:p>
            <a:r>
              <a:rPr lang="en-IN" dirty="0"/>
              <a:t>// Average reading function</a:t>
            </a:r>
          </a:p>
          <a:p>
            <a:r>
              <a:rPr lang="en-IN" dirty="0"/>
              <a:t>float </a:t>
            </a:r>
            <a:r>
              <a:rPr lang="en-IN" dirty="0" err="1"/>
              <a:t>readSensor</a:t>
            </a:r>
            <a:r>
              <a:rPr lang="en-IN" dirty="0"/>
              <a:t>(int pin) { </a:t>
            </a:r>
          </a:p>
          <a:p>
            <a:r>
              <a:rPr lang="en-IN" dirty="0"/>
              <a:t> long sum = 0;</a:t>
            </a:r>
          </a:p>
          <a:p>
            <a:r>
              <a:rPr lang="en-IN" dirty="0"/>
              <a:t>  for (int </a:t>
            </a:r>
            <a:r>
              <a:rPr lang="en-IN" dirty="0" err="1"/>
              <a:t>i</a:t>
            </a:r>
            <a:r>
              <a:rPr lang="en-IN" dirty="0"/>
              <a:t> = 0; </a:t>
            </a:r>
            <a:r>
              <a:rPr lang="en-IN" dirty="0" err="1"/>
              <a:t>i</a:t>
            </a:r>
            <a:r>
              <a:rPr lang="en-IN" dirty="0"/>
              <a:t> &lt; 10; </a:t>
            </a:r>
            <a:r>
              <a:rPr lang="en-IN" dirty="0" err="1"/>
              <a:t>i</a:t>
            </a:r>
            <a:r>
              <a:rPr lang="en-IN" dirty="0"/>
              <a:t>++) {</a:t>
            </a:r>
          </a:p>
          <a:p>
            <a:r>
              <a:rPr lang="en-IN" dirty="0"/>
              <a:t>sum += </a:t>
            </a:r>
            <a:r>
              <a:rPr lang="en-IN" dirty="0" err="1"/>
              <a:t>analogRead</a:t>
            </a:r>
            <a:r>
              <a:rPr lang="en-IN" dirty="0"/>
              <a:t>(pin); </a:t>
            </a:r>
          </a:p>
          <a:p>
            <a:r>
              <a:rPr lang="en-IN" dirty="0"/>
              <a:t>delay(10);</a:t>
            </a:r>
          </a:p>
          <a:p>
            <a:r>
              <a:rPr lang="en-IN" dirty="0"/>
              <a:t> }</a:t>
            </a:r>
          </a:p>
          <a:p>
            <a:r>
              <a:rPr lang="en-IN" dirty="0"/>
              <a:t> return sum / 10.0;</a:t>
            </a:r>
          </a:p>
          <a:p>
            <a:r>
              <a:rPr lang="en-IN" dirty="0"/>
              <a:t>} </a:t>
            </a:r>
          </a:p>
          <a:p>
            <a:r>
              <a:rPr lang="en-IN" dirty="0"/>
              <a:t>void </a:t>
            </a:r>
            <a:r>
              <a:rPr lang="en-IN" dirty="0" err="1"/>
              <a:t>sendData</a:t>
            </a:r>
            <a:r>
              <a:rPr lang="en-IN" dirty="0"/>
              <a:t>() {</a:t>
            </a:r>
          </a:p>
          <a:p>
            <a:r>
              <a:rPr lang="en-IN" dirty="0"/>
              <a:t>  // Read sensors  float </a:t>
            </a:r>
            <a:r>
              <a:rPr lang="en-IN" dirty="0" err="1"/>
              <a:t>phRaw</a:t>
            </a:r>
            <a:r>
              <a:rPr lang="en-IN" dirty="0"/>
              <a:t> = </a:t>
            </a:r>
            <a:r>
              <a:rPr lang="en-IN" dirty="0" err="1"/>
              <a:t>readSensor</a:t>
            </a:r>
            <a:r>
              <a:rPr lang="en-IN" dirty="0"/>
              <a:t>(PH_PIN); </a:t>
            </a:r>
          </a:p>
          <a:p>
            <a:r>
              <a:rPr lang="en-IN" dirty="0"/>
              <a:t> float </a:t>
            </a:r>
            <a:r>
              <a:rPr lang="en-IN" dirty="0" err="1"/>
              <a:t>turbRaw</a:t>
            </a:r>
            <a:r>
              <a:rPr lang="en-IN" dirty="0"/>
              <a:t> = </a:t>
            </a:r>
            <a:r>
              <a:rPr lang="en-IN" dirty="0" err="1"/>
              <a:t>readSensor</a:t>
            </a:r>
            <a:r>
              <a:rPr lang="en-IN" dirty="0"/>
              <a:t>(TURB_PIN); </a:t>
            </a:r>
          </a:p>
          <a:p>
            <a:r>
              <a:rPr lang="en-IN" dirty="0"/>
              <a:t> float </a:t>
            </a:r>
            <a:r>
              <a:rPr lang="en-IN" dirty="0" err="1"/>
              <a:t>tdsRaw</a:t>
            </a:r>
            <a:r>
              <a:rPr lang="en-IN" dirty="0"/>
              <a:t> = </a:t>
            </a:r>
            <a:r>
              <a:rPr lang="en-IN" dirty="0" err="1"/>
              <a:t>readSensor</a:t>
            </a:r>
            <a:r>
              <a:rPr lang="en-IN" dirty="0"/>
              <a:t>(TDS_PIN);</a:t>
            </a:r>
          </a:p>
          <a:p>
            <a:r>
              <a:rPr lang="en-IN" dirty="0"/>
              <a:t>  // Convert to voltage  </a:t>
            </a:r>
          </a:p>
          <a:p>
            <a:r>
              <a:rPr lang="en-IN" dirty="0"/>
              <a:t>float </a:t>
            </a:r>
            <a:r>
              <a:rPr lang="en-IN" dirty="0" err="1"/>
              <a:t>phVoltage</a:t>
            </a:r>
            <a:r>
              <a:rPr lang="en-IN" dirty="0"/>
              <a:t> = </a:t>
            </a:r>
            <a:r>
              <a:rPr lang="en-IN" dirty="0" err="1"/>
              <a:t>phRaw</a:t>
            </a:r>
            <a:r>
              <a:rPr lang="en-IN" dirty="0"/>
              <a:t> * (3.3 / 4095.0); </a:t>
            </a:r>
          </a:p>
          <a:p>
            <a:r>
              <a:rPr lang="en-IN" dirty="0"/>
              <a:t> float </a:t>
            </a:r>
            <a:r>
              <a:rPr lang="en-IN" dirty="0" err="1"/>
              <a:t>turbVoltage</a:t>
            </a:r>
            <a:r>
              <a:rPr lang="en-IN" dirty="0"/>
              <a:t> = </a:t>
            </a:r>
            <a:r>
              <a:rPr lang="en-IN" dirty="0" err="1"/>
              <a:t>turbRaw</a:t>
            </a:r>
            <a:r>
              <a:rPr lang="en-IN" dirty="0"/>
              <a:t> * (3.3 / 4095.0);</a:t>
            </a:r>
          </a:p>
          <a:p>
            <a:r>
              <a:rPr lang="en-IN" dirty="0"/>
              <a:t>  float </a:t>
            </a:r>
            <a:r>
              <a:rPr lang="en-IN" dirty="0" err="1"/>
              <a:t>tdsVoltage</a:t>
            </a:r>
            <a:r>
              <a:rPr lang="en-IN" dirty="0"/>
              <a:t> = </a:t>
            </a:r>
            <a:r>
              <a:rPr lang="en-IN" dirty="0" err="1"/>
              <a:t>tdsRaw</a:t>
            </a:r>
            <a:r>
              <a:rPr lang="en-IN" dirty="0"/>
              <a:t> * (3.3 / 4095.0);</a:t>
            </a:r>
          </a:p>
          <a:p>
            <a:r>
              <a:rPr lang="en-IN" dirty="0"/>
              <a:t>  </a:t>
            </a:r>
          </a:p>
        </p:txBody>
      </p:sp>
    </p:spTree>
    <p:extLst>
      <p:ext uri="{BB962C8B-B14F-4D97-AF65-F5344CB8AC3E}">
        <p14:creationId xmlns:p14="http://schemas.microsoft.com/office/powerpoint/2010/main" val="3795833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FB7F95-9736-292B-6B80-1DADFF7EE245}"/>
              </a:ext>
            </a:extLst>
          </p:cNvPr>
          <p:cNvSpPr txBox="1"/>
          <p:nvPr/>
        </p:nvSpPr>
        <p:spPr>
          <a:xfrm>
            <a:off x="228600" y="228600"/>
            <a:ext cx="6629400" cy="4524315"/>
          </a:xfrm>
          <a:prstGeom prst="rect">
            <a:avLst/>
          </a:prstGeom>
          <a:noFill/>
        </p:spPr>
        <p:txBody>
          <a:bodyPr wrap="square">
            <a:spAutoFit/>
          </a:bodyPr>
          <a:lstStyle/>
          <a:p>
            <a:r>
              <a:rPr lang="en-IN" dirty="0"/>
              <a:t> // Conversion formulas (</a:t>
            </a:r>
            <a:r>
              <a:rPr lang="en-IN" dirty="0" err="1"/>
              <a:t>approx</a:t>
            </a:r>
            <a:r>
              <a:rPr lang="en-IN" dirty="0"/>
              <a:t>) </a:t>
            </a:r>
          </a:p>
          <a:p>
            <a:r>
              <a:rPr lang="en-IN" dirty="0"/>
              <a:t>float pH = 7 + ((2.5 - </a:t>
            </a:r>
            <a:r>
              <a:rPr lang="en-IN" dirty="0" err="1"/>
              <a:t>phVoltage</a:t>
            </a:r>
            <a:r>
              <a:rPr lang="en-IN" dirty="0"/>
              <a:t>) / 0.18);</a:t>
            </a:r>
          </a:p>
          <a:p>
            <a:r>
              <a:rPr lang="en-IN" dirty="0"/>
              <a:t> float turbidity = (3.3 - </a:t>
            </a:r>
            <a:r>
              <a:rPr lang="en-IN" dirty="0" err="1"/>
              <a:t>turbVoltage</a:t>
            </a:r>
            <a:r>
              <a:rPr lang="en-IN" dirty="0"/>
              <a:t>) * 100; </a:t>
            </a:r>
          </a:p>
          <a:p>
            <a:r>
              <a:rPr lang="en-IN" dirty="0"/>
              <a:t>float </a:t>
            </a:r>
            <a:r>
              <a:rPr lang="en-IN" dirty="0" err="1"/>
              <a:t>tds</a:t>
            </a:r>
            <a:r>
              <a:rPr lang="en-IN" dirty="0"/>
              <a:t> = </a:t>
            </a:r>
            <a:r>
              <a:rPr lang="en-IN" dirty="0" err="1"/>
              <a:t>tdsVoltage</a:t>
            </a:r>
            <a:r>
              <a:rPr lang="en-IN" dirty="0"/>
              <a:t> * 1000;  </a:t>
            </a:r>
          </a:p>
          <a:p>
            <a:r>
              <a:rPr lang="en-IN" dirty="0"/>
              <a:t>// Serial Monitor</a:t>
            </a:r>
          </a:p>
          <a:p>
            <a:r>
              <a:rPr lang="en-IN" dirty="0"/>
              <a:t> </a:t>
            </a:r>
            <a:r>
              <a:rPr lang="en-IN" dirty="0" err="1"/>
              <a:t>Serial.println</a:t>
            </a:r>
            <a:r>
              <a:rPr lang="en-IN" dirty="0"/>
              <a:t>("----- Water Quality -----");</a:t>
            </a:r>
          </a:p>
          <a:p>
            <a:r>
              <a:rPr lang="en-IN" dirty="0"/>
              <a:t> </a:t>
            </a:r>
            <a:r>
              <a:rPr lang="en-IN" dirty="0" err="1"/>
              <a:t>Serial.print</a:t>
            </a:r>
            <a:r>
              <a:rPr lang="en-IN" dirty="0"/>
              <a:t>("pH: "); </a:t>
            </a:r>
          </a:p>
          <a:p>
            <a:r>
              <a:rPr lang="en-IN" dirty="0" err="1"/>
              <a:t>Serial.println</a:t>
            </a:r>
            <a:r>
              <a:rPr lang="en-IN" dirty="0"/>
              <a:t>(pH);</a:t>
            </a:r>
          </a:p>
          <a:p>
            <a:r>
              <a:rPr lang="en-IN" dirty="0"/>
              <a:t> </a:t>
            </a:r>
            <a:r>
              <a:rPr lang="en-IN" dirty="0" err="1"/>
              <a:t>Serial.print</a:t>
            </a:r>
            <a:r>
              <a:rPr lang="en-IN" dirty="0"/>
              <a:t>("Turbidity: ");</a:t>
            </a:r>
          </a:p>
          <a:p>
            <a:r>
              <a:rPr lang="en-IN" dirty="0"/>
              <a:t> </a:t>
            </a:r>
            <a:r>
              <a:rPr lang="en-IN" dirty="0" err="1"/>
              <a:t>Serial.println</a:t>
            </a:r>
            <a:r>
              <a:rPr lang="en-IN" dirty="0"/>
              <a:t>(turbidity); </a:t>
            </a:r>
          </a:p>
          <a:p>
            <a:r>
              <a:rPr lang="en-IN" dirty="0"/>
              <a:t> </a:t>
            </a:r>
            <a:r>
              <a:rPr lang="en-IN" dirty="0" err="1"/>
              <a:t>Serial.print</a:t>
            </a:r>
            <a:r>
              <a:rPr lang="en-IN" dirty="0"/>
              <a:t>("TDS: ");</a:t>
            </a:r>
          </a:p>
          <a:p>
            <a:r>
              <a:rPr lang="en-IN" dirty="0"/>
              <a:t> </a:t>
            </a:r>
            <a:r>
              <a:rPr lang="en-IN" dirty="0" err="1"/>
              <a:t>Serial.println</a:t>
            </a:r>
            <a:r>
              <a:rPr lang="en-IN" dirty="0"/>
              <a:t>(</a:t>
            </a:r>
            <a:r>
              <a:rPr lang="en-IN" dirty="0" err="1"/>
              <a:t>tds</a:t>
            </a:r>
            <a:r>
              <a:rPr lang="en-IN" dirty="0"/>
              <a:t>);</a:t>
            </a:r>
          </a:p>
          <a:p>
            <a:r>
              <a:rPr lang="en-IN" dirty="0"/>
              <a:t> // Send to Blynk </a:t>
            </a:r>
          </a:p>
          <a:p>
            <a:r>
              <a:rPr lang="en-IN" dirty="0" err="1"/>
              <a:t>Blynk.virtualWrite</a:t>
            </a:r>
            <a:r>
              <a:rPr lang="en-IN" dirty="0"/>
              <a:t>(V0, pH);</a:t>
            </a:r>
          </a:p>
          <a:p>
            <a:r>
              <a:rPr lang="en-IN" dirty="0"/>
              <a:t> </a:t>
            </a:r>
            <a:r>
              <a:rPr lang="en-IN" dirty="0" err="1"/>
              <a:t>Blynk.virtualWrite</a:t>
            </a:r>
            <a:r>
              <a:rPr lang="en-IN" dirty="0"/>
              <a:t>(V1, turbidity);</a:t>
            </a:r>
          </a:p>
          <a:p>
            <a:r>
              <a:rPr lang="en-IN" dirty="0"/>
              <a:t> </a:t>
            </a:r>
            <a:r>
              <a:rPr lang="en-IN" dirty="0" err="1"/>
              <a:t>Blynk.virtualWrite</a:t>
            </a:r>
            <a:r>
              <a:rPr lang="en-IN" dirty="0"/>
              <a:t>(V2, </a:t>
            </a:r>
            <a:r>
              <a:rPr lang="en-IN" dirty="0" err="1"/>
              <a:t>tds</a:t>
            </a:r>
            <a:r>
              <a:rPr lang="en-IN" dirty="0"/>
              <a:t>); </a:t>
            </a:r>
          </a:p>
        </p:txBody>
      </p:sp>
    </p:spTree>
    <p:extLst>
      <p:ext uri="{BB962C8B-B14F-4D97-AF65-F5344CB8AC3E}">
        <p14:creationId xmlns:p14="http://schemas.microsoft.com/office/powerpoint/2010/main" val="2107118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ACC10B-08C5-9495-9A05-8A628419E24C}"/>
              </a:ext>
            </a:extLst>
          </p:cNvPr>
          <p:cNvSpPr txBox="1"/>
          <p:nvPr/>
        </p:nvSpPr>
        <p:spPr>
          <a:xfrm>
            <a:off x="304800" y="381001"/>
            <a:ext cx="6553200" cy="5078313"/>
          </a:xfrm>
          <a:prstGeom prst="rect">
            <a:avLst/>
          </a:prstGeom>
          <a:noFill/>
        </p:spPr>
        <p:txBody>
          <a:bodyPr wrap="square">
            <a:spAutoFit/>
          </a:bodyPr>
          <a:lstStyle/>
          <a:p>
            <a:r>
              <a:rPr lang="en-IN" dirty="0"/>
              <a:t> // Alert condition </a:t>
            </a:r>
          </a:p>
          <a:p>
            <a:r>
              <a:rPr lang="en-IN" dirty="0"/>
              <a:t> if (pH &lt; </a:t>
            </a:r>
            <a:r>
              <a:rPr lang="en-IN" dirty="0" err="1"/>
              <a:t>ph_min</a:t>
            </a:r>
            <a:r>
              <a:rPr lang="en-IN" dirty="0"/>
              <a:t> || pH &gt; </a:t>
            </a:r>
            <a:r>
              <a:rPr lang="en-IN" dirty="0" err="1"/>
              <a:t>ph_max</a:t>
            </a:r>
            <a:r>
              <a:rPr lang="en-IN" dirty="0"/>
              <a:t> || turbidity &gt; </a:t>
            </a:r>
            <a:r>
              <a:rPr lang="en-IN" dirty="0" err="1"/>
              <a:t>turb_max</a:t>
            </a:r>
            <a:r>
              <a:rPr lang="en-IN" dirty="0"/>
              <a:t> || </a:t>
            </a:r>
            <a:r>
              <a:rPr lang="en-IN" dirty="0" err="1"/>
              <a:t>tds</a:t>
            </a:r>
            <a:r>
              <a:rPr lang="en-IN" dirty="0"/>
              <a:t> &gt; </a:t>
            </a:r>
            <a:r>
              <a:rPr lang="en-IN" dirty="0" err="1"/>
              <a:t>tds_max</a:t>
            </a:r>
            <a:r>
              <a:rPr lang="en-IN" dirty="0"/>
              <a:t>) { </a:t>
            </a:r>
          </a:p>
          <a:p>
            <a:r>
              <a:rPr lang="en-IN" dirty="0"/>
              <a:t> </a:t>
            </a:r>
            <a:r>
              <a:rPr lang="en-IN" dirty="0" err="1"/>
              <a:t>digitalWrite</a:t>
            </a:r>
            <a:r>
              <a:rPr lang="en-IN" dirty="0"/>
              <a:t>(BUZZER_PIN, HIGH);    </a:t>
            </a:r>
            <a:r>
              <a:rPr lang="en-IN" dirty="0" err="1"/>
              <a:t>Blynk.virtualWrite</a:t>
            </a:r>
            <a:r>
              <a:rPr lang="en-IN" dirty="0"/>
              <a:t>(V3, 1); </a:t>
            </a:r>
          </a:p>
          <a:p>
            <a:r>
              <a:rPr lang="en-IN" dirty="0"/>
              <a:t> // LED ON </a:t>
            </a:r>
          </a:p>
          <a:p>
            <a:r>
              <a:rPr lang="en-IN" dirty="0"/>
              <a:t> } else {    </a:t>
            </a:r>
            <a:r>
              <a:rPr lang="en-IN" dirty="0" err="1"/>
              <a:t>digitalWrite</a:t>
            </a:r>
            <a:r>
              <a:rPr lang="en-IN" dirty="0"/>
              <a:t>(BUZZER_PIN, LOW);</a:t>
            </a:r>
          </a:p>
          <a:p>
            <a:r>
              <a:rPr lang="en-IN" dirty="0"/>
              <a:t>    </a:t>
            </a:r>
            <a:r>
              <a:rPr lang="en-IN" dirty="0" err="1"/>
              <a:t>Blynk.virtualWrite</a:t>
            </a:r>
            <a:r>
              <a:rPr lang="en-IN" dirty="0"/>
              <a:t>(V3, 0);  </a:t>
            </a:r>
          </a:p>
          <a:p>
            <a:r>
              <a:rPr lang="en-IN" dirty="0"/>
              <a:t>// LED OFF  }}</a:t>
            </a:r>
          </a:p>
          <a:p>
            <a:r>
              <a:rPr lang="en-IN" dirty="0"/>
              <a:t>void setup() </a:t>
            </a:r>
          </a:p>
          <a:p>
            <a:r>
              <a:rPr lang="en-IN" dirty="0" err="1"/>
              <a:t>Serial.begin</a:t>
            </a:r>
            <a:r>
              <a:rPr lang="en-IN" dirty="0"/>
              <a:t>(115200); </a:t>
            </a:r>
          </a:p>
          <a:p>
            <a:r>
              <a:rPr lang="en-IN" dirty="0"/>
              <a:t> </a:t>
            </a:r>
            <a:r>
              <a:rPr lang="en-IN" dirty="0" err="1"/>
              <a:t>pinMode</a:t>
            </a:r>
            <a:r>
              <a:rPr lang="en-IN" dirty="0"/>
              <a:t>(BUZZER_PIN, OUTPUT);</a:t>
            </a:r>
          </a:p>
          <a:p>
            <a:r>
              <a:rPr lang="en-IN" dirty="0"/>
              <a:t>  </a:t>
            </a:r>
            <a:r>
              <a:rPr lang="en-IN" dirty="0" err="1"/>
              <a:t>analogReadResolution</a:t>
            </a:r>
            <a:r>
              <a:rPr lang="en-IN" dirty="0"/>
              <a:t>(12);</a:t>
            </a:r>
          </a:p>
          <a:p>
            <a:r>
              <a:rPr lang="en-IN" dirty="0"/>
              <a:t>  </a:t>
            </a:r>
            <a:r>
              <a:rPr lang="en-IN" dirty="0" err="1"/>
              <a:t>Blynk.begin</a:t>
            </a:r>
            <a:r>
              <a:rPr lang="en-IN" dirty="0"/>
              <a:t>(BLYNK_AUTH_TOKEN, </a:t>
            </a:r>
            <a:r>
              <a:rPr lang="en-IN" dirty="0" err="1"/>
              <a:t>ssid</a:t>
            </a:r>
            <a:r>
              <a:rPr lang="en-IN" dirty="0"/>
              <a:t>, pass); </a:t>
            </a:r>
          </a:p>
          <a:p>
            <a:r>
              <a:rPr lang="en-IN" dirty="0"/>
              <a:t> // Send data every 5 seconds  </a:t>
            </a:r>
            <a:r>
              <a:rPr lang="en-IN" dirty="0" err="1"/>
              <a:t>timer.setInterval</a:t>
            </a:r>
            <a:r>
              <a:rPr lang="en-IN" dirty="0"/>
              <a:t>(5000L, </a:t>
            </a:r>
            <a:r>
              <a:rPr lang="en-IN" dirty="0" err="1"/>
              <a:t>sendData</a:t>
            </a:r>
            <a:r>
              <a:rPr lang="en-IN" dirty="0"/>
              <a:t>);</a:t>
            </a:r>
          </a:p>
          <a:p>
            <a:r>
              <a:rPr lang="en-IN" dirty="0"/>
              <a:t>}void loop()</a:t>
            </a:r>
          </a:p>
          <a:p>
            <a:r>
              <a:rPr lang="en-IN" dirty="0"/>
              <a:t> {  </a:t>
            </a:r>
            <a:r>
              <a:rPr lang="en-IN" dirty="0" err="1"/>
              <a:t>Blynk.run</a:t>
            </a:r>
            <a:r>
              <a:rPr lang="en-IN" dirty="0"/>
              <a:t>(); </a:t>
            </a:r>
          </a:p>
          <a:p>
            <a:r>
              <a:rPr lang="en-IN" dirty="0"/>
              <a:t> </a:t>
            </a:r>
            <a:r>
              <a:rPr lang="en-IN" dirty="0" err="1"/>
              <a:t>timer.run</a:t>
            </a:r>
            <a:r>
              <a:rPr lang="en-IN"/>
              <a:t>();</a:t>
            </a:r>
          </a:p>
          <a:p>
            <a:r>
              <a:rPr lang="en-IN"/>
              <a:t>}</a:t>
            </a:r>
            <a:endParaRPr lang="en-IN" dirty="0"/>
          </a:p>
        </p:txBody>
      </p:sp>
    </p:spTree>
    <p:extLst>
      <p:ext uri="{BB962C8B-B14F-4D97-AF65-F5344CB8AC3E}">
        <p14:creationId xmlns:p14="http://schemas.microsoft.com/office/powerpoint/2010/main" val="252971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D6903-CCE0-09D9-F613-FCA24F8FA980}"/>
              </a:ext>
            </a:extLst>
          </p:cNvPr>
          <p:cNvSpPr>
            <a:spLocks noGrp="1"/>
          </p:cNvSpPr>
          <p:nvPr>
            <p:ph type="title"/>
          </p:nvPr>
        </p:nvSpPr>
        <p:spPr>
          <a:xfrm>
            <a:off x="231139" y="381000"/>
            <a:ext cx="8681719" cy="369332"/>
          </a:xfrm>
        </p:spPr>
        <p:txBody>
          <a:bodyPr/>
          <a:lstStyle/>
          <a:p>
            <a:r>
              <a:rPr lang="en-US" dirty="0"/>
              <a:t>RESULT</a:t>
            </a:r>
            <a:endParaRPr lang="en-IN" dirty="0"/>
          </a:p>
        </p:txBody>
      </p:sp>
      <p:pic>
        <p:nvPicPr>
          <p:cNvPr id="6" name="Image 74">
            <a:extLst>
              <a:ext uri="{FF2B5EF4-FFF2-40B4-BE49-F238E27FC236}">
                <a16:creationId xmlns:a16="http://schemas.microsoft.com/office/drawing/2014/main" id="{3A3A6018-EFAE-E289-D1E4-2DCCF7E85F06}"/>
              </a:ext>
            </a:extLst>
          </p:cNvPr>
          <p:cNvPicPr>
            <a:picLocks/>
          </p:cNvPicPr>
          <p:nvPr/>
        </p:nvPicPr>
        <p:blipFill>
          <a:blip r:embed="rId2" cstate="print"/>
          <a:stretch>
            <a:fillRect/>
          </a:stretch>
        </p:blipFill>
        <p:spPr>
          <a:xfrm>
            <a:off x="5021736" y="1219200"/>
            <a:ext cx="3749040" cy="2941320"/>
          </a:xfrm>
          <a:prstGeom prst="rect">
            <a:avLst/>
          </a:prstGeom>
        </p:spPr>
      </p:pic>
      <p:pic>
        <p:nvPicPr>
          <p:cNvPr id="7" name="Image 75">
            <a:extLst>
              <a:ext uri="{FF2B5EF4-FFF2-40B4-BE49-F238E27FC236}">
                <a16:creationId xmlns:a16="http://schemas.microsoft.com/office/drawing/2014/main" id="{10C76201-D040-0558-AF9A-6561EF051BC6}"/>
              </a:ext>
            </a:extLst>
          </p:cNvPr>
          <p:cNvPicPr>
            <a:picLocks/>
          </p:cNvPicPr>
          <p:nvPr/>
        </p:nvPicPr>
        <p:blipFill>
          <a:blip r:embed="rId3" cstate="print"/>
          <a:stretch>
            <a:fillRect/>
          </a:stretch>
        </p:blipFill>
        <p:spPr>
          <a:xfrm>
            <a:off x="373224" y="1219200"/>
            <a:ext cx="3749041" cy="2941320"/>
          </a:xfrm>
          <a:prstGeom prst="rect">
            <a:avLst/>
          </a:prstGeom>
          <a:ln>
            <a:noFill/>
          </a:ln>
        </p:spPr>
      </p:pic>
      <p:sp>
        <p:nvSpPr>
          <p:cNvPr id="9" name="Rectangle 8">
            <a:extLst>
              <a:ext uri="{FF2B5EF4-FFF2-40B4-BE49-F238E27FC236}">
                <a16:creationId xmlns:a16="http://schemas.microsoft.com/office/drawing/2014/main" id="{9720684A-16CE-70E0-2226-3CCDC9208D27}"/>
              </a:ext>
            </a:extLst>
          </p:cNvPr>
          <p:cNvSpPr/>
          <p:nvPr/>
        </p:nvSpPr>
        <p:spPr>
          <a:xfrm>
            <a:off x="457200" y="3870960"/>
            <a:ext cx="2415851" cy="115824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Fig No :1- water is safe</a:t>
            </a:r>
            <a:endParaRPr lang="en-IN" dirty="0"/>
          </a:p>
        </p:txBody>
      </p:sp>
      <p:sp>
        <p:nvSpPr>
          <p:cNvPr id="10" name="Rectangle 9">
            <a:extLst>
              <a:ext uri="{FF2B5EF4-FFF2-40B4-BE49-F238E27FC236}">
                <a16:creationId xmlns:a16="http://schemas.microsoft.com/office/drawing/2014/main" id="{36448439-19B7-747F-BAA1-316B9B38723F}"/>
              </a:ext>
            </a:extLst>
          </p:cNvPr>
          <p:cNvSpPr/>
          <p:nvPr/>
        </p:nvSpPr>
        <p:spPr>
          <a:xfrm>
            <a:off x="5105400" y="4184469"/>
            <a:ext cx="3124200" cy="45362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Fig No :2- water is unsafe</a:t>
            </a:r>
            <a:endParaRPr lang="en-IN" dirty="0"/>
          </a:p>
        </p:txBody>
      </p:sp>
      <p:sp>
        <p:nvSpPr>
          <p:cNvPr id="17" name="Rectangle 16">
            <a:extLst>
              <a:ext uri="{FF2B5EF4-FFF2-40B4-BE49-F238E27FC236}">
                <a16:creationId xmlns:a16="http://schemas.microsoft.com/office/drawing/2014/main" id="{5AB94B84-7FCA-4F10-3CF3-90760D7E1496}"/>
              </a:ext>
            </a:extLst>
          </p:cNvPr>
          <p:cNvSpPr/>
          <p:nvPr/>
        </p:nvSpPr>
        <p:spPr>
          <a:xfrm>
            <a:off x="5021736" y="4724400"/>
            <a:ext cx="3588864" cy="134516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IN" sz="1400" dirty="0"/>
          </a:p>
        </p:txBody>
      </p:sp>
    </p:spTree>
    <p:extLst>
      <p:ext uri="{BB962C8B-B14F-4D97-AF65-F5344CB8AC3E}">
        <p14:creationId xmlns:p14="http://schemas.microsoft.com/office/powerpoint/2010/main" val="608732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7536A-480C-0B52-1611-D03F82EE79F3}"/>
              </a:ext>
            </a:extLst>
          </p:cNvPr>
          <p:cNvSpPr>
            <a:spLocks noGrp="1"/>
          </p:cNvSpPr>
          <p:nvPr>
            <p:ph type="title"/>
          </p:nvPr>
        </p:nvSpPr>
        <p:spPr>
          <a:xfrm>
            <a:off x="231140" y="99948"/>
            <a:ext cx="8681719" cy="6529452"/>
          </a:xfrm>
        </p:spPr>
        <p:txBody>
          <a:bodyPr/>
          <a:lstStyle/>
          <a:p>
            <a:br>
              <a:rPr lang="en-US" dirty="0"/>
            </a:br>
            <a:endParaRPr lang="en-IN" dirty="0"/>
          </a:p>
        </p:txBody>
      </p:sp>
      <p:pic>
        <p:nvPicPr>
          <p:cNvPr id="3" name="Image 83">
            <a:extLst>
              <a:ext uri="{FF2B5EF4-FFF2-40B4-BE49-F238E27FC236}">
                <a16:creationId xmlns:a16="http://schemas.microsoft.com/office/drawing/2014/main" id="{17F92D96-D2C5-8D06-56DA-9AA3FA32A398}"/>
              </a:ext>
            </a:extLst>
          </p:cNvPr>
          <p:cNvPicPr>
            <a:picLocks/>
          </p:cNvPicPr>
          <p:nvPr/>
        </p:nvPicPr>
        <p:blipFill>
          <a:blip r:embed="rId2" cstate="print"/>
          <a:stretch>
            <a:fillRect/>
          </a:stretch>
        </p:blipFill>
        <p:spPr>
          <a:xfrm>
            <a:off x="533400" y="762000"/>
            <a:ext cx="3352800" cy="3113405"/>
          </a:xfrm>
          <a:prstGeom prst="rect">
            <a:avLst/>
          </a:prstGeom>
        </p:spPr>
      </p:pic>
      <p:sp>
        <p:nvSpPr>
          <p:cNvPr id="5" name="TextBox 4">
            <a:extLst>
              <a:ext uri="{FF2B5EF4-FFF2-40B4-BE49-F238E27FC236}">
                <a16:creationId xmlns:a16="http://schemas.microsoft.com/office/drawing/2014/main" id="{7C5C6793-45D2-DC83-054A-9BC02D945A65}"/>
              </a:ext>
            </a:extLst>
          </p:cNvPr>
          <p:cNvSpPr txBox="1"/>
          <p:nvPr/>
        </p:nvSpPr>
        <p:spPr>
          <a:xfrm>
            <a:off x="381000" y="4099260"/>
            <a:ext cx="4572000" cy="271485"/>
          </a:xfrm>
          <a:prstGeom prst="rect">
            <a:avLst/>
          </a:prstGeom>
          <a:noFill/>
        </p:spPr>
        <p:txBody>
          <a:bodyPr wrap="square">
            <a:spAutoFit/>
          </a:bodyPr>
          <a:lstStyle/>
          <a:p>
            <a:pPr marL="186690" marR="273050" indent="-154940">
              <a:lnSpc>
                <a:spcPts val="1280"/>
              </a:lnSpc>
              <a:spcBef>
                <a:spcPts val="520"/>
              </a:spcBef>
              <a:buNone/>
            </a:pPr>
            <a:r>
              <a:rPr lang="en-US" sz="1800" b="1" spc="-70" dirty="0">
                <a:effectLst/>
                <a:latin typeface="Times New Roman" panose="02020603050405020304" pitchFamily="18" charset="0"/>
                <a:ea typeface="Times New Roman" panose="02020603050405020304" pitchFamily="18" charset="0"/>
              </a:rPr>
              <a:t>Fig3: </a:t>
            </a:r>
            <a:r>
              <a:rPr lang="en-US" sz="1800" spc="-70" dirty="0">
                <a:effectLst/>
                <a:latin typeface="Times New Roman" panose="02020603050405020304" pitchFamily="18" charset="0"/>
                <a:ea typeface="Times New Roman" panose="02020603050405020304" pitchFamily="18" charset="0"/>
              </a:rPr>
              <a:t>Real Time Water Quality Monitoring </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00730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127A15-A8B9-731C-ABFA-6C3B643F0099}"/>
              </a:ext>
            </a:extLst>
          </p:cNvPr>
          <p:cNvSpPr txBox="1"/>
          <p:nvPr/>
        </p:nvSpPr>
        <p:spPr>
          <a:xfrm>
            <a:off x="0" y="0"/>
            <a:ext cx="8991600" cy="5859553"/>
          </a:xfrm>
          <a:prstGeom prst="rect">
            <a:avLst/>
          </a:prstGeom>
          <a:noFill/>
        </p:spPr>
        <p:txBody>
          <a:bodyPr wrap="square">
            <a:spAutoFit/>
          </a:bodyPr>
          <a:lstStyle/>
          <a:p>
            <a:pPr marL="272415">
              <a:spcBef>
                <a:spcPts val="35"/>
              </a:spcBef>
              <a:buNone/>
              <a:tabLst>
                <a:tab pos="635000" algn="l"/>
              </a:tabLst>
            </a:pPr>
            <a:r>
              <a:rPr lang="en-US" sz="2000" b="1" spc="-10" dirty="0">
                <a:effectLst/>
                <a:latin typeface="Times New Roman" panose="02020603050405020304" pitchFamily="18" charset="0"/>
                <a:ea typeface="Times New Roman" panose="02020603050405020304" pitchFamily="18" charset="0"/>
              </a:rPr>
              <a:t>Conclusion</a:t>
            </a:r>
            <a:endParaRPr lang="en-IN" sz="2000" b="1" dirty="0">
              <a:effectLst/>
              <a:latin typeface="Times New Roman" panose="02020603050405020304" pitchFamily="18" charset="0"/>
              <a:ea typeface="Times New Roman" panose="02020603050405020304" pitchFamily="18" charset="0"/>
            </a:endParaRPr>
          </a:p>
          <a:p>
            <a:pPr>
              <a:spcBef>
                <a:spcPts val="435"/>
              </a:spcBef>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272415" marR="188595" algn="just">
              <a:lnSpc>
                <a:spcPct val="150000"/>
              </a:lnSpc>
              <a:buNone/>
            </a:pPr>
            <a:r>
              <a:rPr lang="en-US" sz="1600" dirty="0">
                <a:effectLst/>
                <a:latin typeface="Times New Roman" panose="02020603050405020304" pitchFamily="18" charset="0"/>
                <a:ea typeface="Times New Roman" panose="02020603050405020304" pitchFamily="18" charset="0"/>
              </a:rPr>
              <a:t>In this project, an IoT-Based Drinking Water Quality Monitoring and Alert System with Voice Announcement has been successfully designed and implemented. The system uses sensors such as pH sensor,</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TDS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sensor,</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turbidity</a:t>
            </a:r>
            <a:r>
              <a:rPr lang="en-US" sz="1600" spc="-8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sensor</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continuously</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monitor</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important water</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quality</a:t>
            </a:r>
            <a:r>
              <a:rPr lang="en-US" sz="1600" spc="-8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parameters.</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 collected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data</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is</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processed by</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ESP32</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microcontroller, which</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evaluates</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whether</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water</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quality</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falls within safe drinking limits. The system also integrates IoT technology using the Blynk platform, allowing real-time monitoring of water quality</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through</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mobile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application</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or dashboard. Whenever 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water quality</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parameters</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exceed the</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predefined</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safe</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limits,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a:t>
            </a:r>
            <a:r>
              <a:rPr lang="en-US" sz="1600" spc="-10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generates</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alerts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using</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buzzer</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status</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notification,</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ensuring</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that users are immediately informed about unsafe water conditions. The implementation results show that the system can accurately detect both safe and unsafe water conditions</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 display</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results</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on</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serial</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monitor and IoT dashboard.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This</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provides</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 low- cost,</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efficient,</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reliable</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solution</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for</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monitoring</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drinking</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water</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quality,</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especially</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rural</a:t>
            </a:r>
            <a:r>
              <a:rPr lang="en-US" sz="1600" spc="-8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remote areas where regular water testing facilities may not be available. Overall, the developed system helps ensure safe drinking water and supports better health and environmental safety</a:t>
            </a:r>
            <a:endParaRPr lang="en-IN" dirty="0"/>
          </a:p>
        </p:txBody>
      </p:sp>
    </p:spTree>
    <p:extLst>
      <p:ext uri="{BB962C8B-B14F-4D97-AF65-F5344CB8AC3E}">
        <p14:creationId xmlns:p14="http://schemas.microsoft.com/office/powerpoint/2010/main" val="1144100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0" y="0"/>
            <a:ext cx="9144000" cy="6858000"/>
          </a:xfrm>
          <a:custGeom>
            <a:avLst/>
            <a:gdLst/>
            <a:ahLst/>
            <a:cxnLst/>
            <a:rect l="l" t="t" r="r" b="b"/>
            <a:pathLst>
              <a:path w="9144000" h="6858000">
                <a:moveTo>
                  <a:pt x="0" y="6858000"/>
                </a:moveTo>
                <a:lnTo>
                  <a:pt x="9144000" y="6858000"/>
                </a:lnTo>
                <a:lnTo>
                  <a:pt x="9144000" y="0"/>
                </a:lnTo>
                <a:lnTo>
                  <a:pt x="0" y="0"/>
                </a:lnTo>
                <a:lnTo>
                  <a:pt x="0" y="6858000"/>
                </a:lnTo>
                <a:close/>
              </a:path>
            </a:pathLst>
          </a:custGeom>
          <a:solidFill>
            <a:srgbClr val="FFFFFF"/>
          </a:solidFill>
        </p:spPr>
        <p:txBody>
          <a:bodyPr wrap="square" lIns="0" tIns="0" rIns="0" bIns="0" rtlCol="0"/>
          <a:lstStyle/>
          <a:p>
            <a:endParaRPr/>
          </a:p>
        </p:txBody>
      </p:sp>
      <p:sp>
        <p:nvSpPr>
          <p:cNvPr id="4" name="object 4"/>
          <p:cNvSpPr/>
          <p:nvPr/>
        </p:nvSpPr>
        <p:spPr>
          <a:xfrm>
            <a:off x="64007" y="70103"/>
            <a:ext cx="9013190" cy="6693534"/>
          </a:xfrm>
          <a:custGeom>
            <a:avLst/>
            <a:gdLst/>
            <a:ahLst/>
            <a:cxnLst/>
            <a:rect l="l" t="t" r="r" b="b"/>
            <a:pathLst>
              <a:path w="9013190" h="6693534">
                <a:moveTo>
                  <a:pt x="8682990" y="0"/>
                </a:moveTo>
                <a:lnTo>
                  <a:pt x="329920" y="0"/>
                </a:lnTo>
                <a:lnTo>
                  <a:pt x="281168" y="3576"/>
                </a:lnTo>
                <a:lnTo>
                  <a:pt x="234636" y="13967"/>
                </a:lnTo>
                <a:lnTo>
                  <a:pt x="190835" y="30662"/>
                </a:lnTo>
                <a:lnTo>
                  <a:pt x="150276" y="53151"/>
                </a:lnTo>
                <a:lnTo>
                  <a:pt x="113469" y="80923"/>
                </a:lnTo>
                <a:lnTo>
                  <a:pt x="80925" y="113468"/>
                </a:lnTo>
                <a:lnTo>
                  <a:pt x="53153" y="150277"/>
                </a:lnTo>
                <a:lnTo>
                  <a:pt x="30664" y="190840"/>
                </a:lnTo>
                <a:lnTo>
                  <a:pt x="13968" y="234645"/>
                </a:lnTo>
                <a:lnTo>
                  <a:pt x="3577" y="281184"/>
                </a:lnTo>
                <a:lnTo>
                  <a:pt x="0" y="329946"/>
                </a:lnTo>
                <a:lnTo>
                  <a:pt x="0" y="6363487"/>
                </a:lnTo>
                <a:lnTo>
                  <a:pt x="3577" y="6412239"/>
                </a:lnTo>
                <a:lnTo>
                  <a:pt x="13968" y="6458771"/>
                </a:lnTo>
                <a:lnTo>
                  <a:pt x="30664" y="6502571"/>
                </a:lnTo>
                <a:lnTo>
                  <a:pt x="53153" y="6543130"/>
                </a:lnTo>
                <a:lnTo>
                  <a:pt x="80925" y="6579937"/>
                </a:lnTo>
                <a:lnTo>
                  <a:pt x="113469" y="6612482"/>
                </a:lnTo>
                <a:lnTo>
                  <a:pt x="150276" y="6640254"/>
                </a:lnTo>
                <a:lnTo>
                  <a:pt x="190835" y="6662742"/>
                </a:lnTo>
                <a:lnTo>
                  <a:pt x="234636" y="6679438"/>
                </a:lnTo>
                <a:lnTo>
                  <a:pt x="281168" y="6689829"/>
                </a:lnTo>
                <a:lnTo>
                  <a:pt x="329920" y="6693406"/>
                </a:lnTo>
                <a:lnTo>
                  <a:pt x="8682990" y="6693406"/>
                </a:lnTo>
                <a:lnTo>
                  <a:pt x="8731751" y="6689829"/>
                </a:lnTo>
                <a:lnTo>
                  <a:pt x="8778290" y="6679438"/>
                </a:lnTo>
                <a:lnTo>
                  <a:pt x="8822095" y="6662742"/>
                </a:lnTo>
                <a:lnTo>
                  <a:pt x="8862658" y="6640254"/>
                </a:lnTo>
                <a:lnTo>
                  <a:pt x="8899467" y="6612482"/>
                </a:lnTo>
                <a:lnTo>
                  <a:pt x="8932012" y="6579937"/>
                </a:lnTo>
                <a:lnTo>
                  <a:pt x="8959784" y="6543130"/>
                </a:lnTo>
                <a:lnTo>
                  <a:pt x="8982273" y="6502571"/>
                </a:lnTo>
                <a:lnTo>
                  <a:pt x="8998968" y="6458771"/>
                </a:lnTo>
                <a:lnTo>
                  <a:pt x="9009359" y="6412239"/>
                </a:lnTo>
                <a:lnTo>
                  <a:pt x="9012936" y="6363487"/>
                </a:lnTo>
                <a:lnTo>
                  <a:pt x="9012936" y="329946"/>
                </a:lnTo>
                <a:lnTo>
                  <a:pt x="9009359" y="281184"/>
                </a:lnTo>
                <a:lnTo>
                  <a:pt x="8998968" y="234645"/>
                </a:lnTo>
                <a:lnTo>
                  <a:pt x="8982273" y="190840"/>
                </a:lnTo>
                <a:lnTo>
                  <a:pt x="8959784" y="150277"/>
                </a:lnTo>
                <a:lnTo>
                  <a:pt x="8932012" y="113468"/>
                </a:lnTo>
                <a:lnTo>
                  <a:pt x="8899467" y="80923"/>
                </a:lnTo>
                <a:lnTo>
                  <a:pt x="8862658" y="53151"/>
                </a:lnTo>
                <a:lnTo>
                  <a:pt x="8822095" y="30662"/>
                </a:lnTo>
                <a:lnTo>
                  <a:pt x="8778290" y="13967"/>
                </a:lnTo>
                <a:lnTo>
                  <a:pt x="8731751" y="3576"/>
                </a:lnTo>
                <a:lnTo>
                  <a:pt x="8682990" y="0"/>
                </a:lnTo>
                <a:close/>
              </a:path>
            </a:pathLst>
          </a:custGeom>
          <a:solidFill>
            <a:srgbClr val="FFFFFF"/>
          </a:solidFill>
        </p:spPr>
        <p:txBody>
          <a:bodyPr wrap="square" lIns="0" tIns="0" rIns="0" bIns="0" rtlCol="0"/>
          <a:lstStyle/>
          <a:p>
            <a:endParaRPr dirty="0"/>
          </a:p>
        </p:txBody>
      </p:sp>
      <p:sp>
        <p:nvSpPr>
          <p:cNvPr id="5" name="object 5"/>
          <p:cNvSpPr/>
          <p:nvPr/>
        </p:nvSpPr>
        <p:spPr>
          <a:xfrm>
            <a:off x="64007" y="70103"/>
            <a:ext cx="9013190" cy="6693534"/>
          </a:xfrm>
          <a:custGeom>
            <a:avLst/>
            <a:gdLst/>
            <a:ahLst/>
            <a:cxnLst/>
            <a:rect l="l" t="t" r="r" b="b"/>
            <a:pathLst>
              <a:path w="9013190"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2990" y="0"/>
                </a:lnTo>
                <a:lnTo>
                  <a:pt x="8731751" y="3576"/>
                </a:lnTo>
                <a:lnTo>
                  <a:pt x="8778290" y="13967"/>
                </a:lnTo>
                <a:lnTo>
                  <a:pt x="8822095" y="30662"/>
                </a:lnTo>
                <a:lnTo>
                  <a:pt x="8862658" y="53151"/>
                </a:lnTo>
                <a:lnTo>
                  <a:pt x="8899467" y="80923"/>
                </a:lnTo>
                <a:lnTo>
                  <a:pt x="8932012" y="113468"/>
                </a:lnTo>
                <a:lnTo>
                  <a:pt x="8959784" y="150277"/>
                </a:lnTo>
                <a:lnTo>
                  <a:pt x="8982273" y="190840"/>
                </a:lnTo>
                <a:lnTo>
                  <a:pt x="8998968" y="234645"/>
                </a:lnTo>
                <a:lnTo>
                  <a:pt x="9009359" y="281184"/>
                </a:lnTo>
                <a:lnTo>
                  <a:pt x="9012936" y="329946"/>
                </a:lnTo>
                <a:lnTo>
                  <a:pt x="9012936" y="6363487"/>
                </a:lnTo>
                <a:lnTo>
                  <a:pt x="9009359" y="6412239"/>
                </a:lnTo>
                <a:lnTo>
                  <a:pt x="8998968" y="6458771"/>
                </a:lnTo>
                <a:lnTo>
                  <a:pt x="8982273" y="6502571"/>
                </a:lnTo>
                <a:lnTo>
                  <a:pt x="8959784" y="6543130"/>
                </a:lnTo>
                <a:lnTo>
                  <a:pt x="8932012" y="6579937"/>
                </a:lnTo>
                <a:lnTo>
                  <a:pt x="8899467" y="6612482"/>
                </a:lnTo>
                <a:lnTo>
                  <a:pt x="8862658" y="6640254"/>
                </a:lnTo>
                <a:lnTo>
                  <a:pt x="8822095" y="6662742"/>
                </a:lnTo>
                <a:lnTo>
                  <a:pt x="8778290" y="6679438"/>
                </a:lnTo>
                <a:lnTo>
                  <a:pt x="8731751" y="6689829"/>
                </a:lnTo>
                <a:lnTo>
                  <a:pt x="8682990" y="6693406"/>
                </a:lnTo>
                <a:lnTo>
                  <a:pt x="329920" y="6693406"/>
                </a:lnTo>
                <a:lnTo>
                  <a:pt x="281168" y="6689829"/>
                </a:lnTo>
                <a:lnTo>
                  <a:pt x="234636" y="6679438"/>
                </a:lnTo>
                <a:lnTo>
                  <a:pt x="190835" y="6662742"/>
                </a:lnTo>
                <a:lnTo>
                  <a:pt x="150276" y="6640254"/>
                </a:lnTo>
                <a:lnTo>
                  <a:pt x="113469" y="6612482"/>
                </a:lnTo>
                <a:lnTo>
                  <a:pt x="80925" y="6579937"/>
                </a:lnTo>
                <a:lnTo>
                  <a:pt x="53153" y="6543130"/>
                </a:lnTo>
                <a:lnTo>
                  <a:pt x="30664" y="6502571"/>
                </a:lnTo>
                <a:lnTo>
                  <a:pt x="13968" y="6458771"/>
                </a:lnTo>
                <a:lnTo>
                  <a:pt x="3577" y="6412239"/>
                </a:lnTo>
                <a:lnTo>
                  <a:pt x="0" y="6363487"/>
                </a:lnTo>
                <a:lnTo>
                  <a:pt x="0" y="329946"/>
                </a:lnTo>
                <a:close/>
              </a:path>
            </a:pathLst>
          </a:custGeom>
          <a:ln w="6096">
            <a:solidFill>
              <a:srgbClr val="000000"/>
            </a:solidFill>
          </a:ln>
        </p:spPr>
        <p:txBody>
          <a:bodyPr wrap="square" lIns="0" tIns="0" rIns="0" bIns="0" rtlCol="0"/>
          <a:lstStyle/>
          <a:p>
            <a:endParaRPr/>
          </a:p>
        </p:txBody>
      </p:sp>
      <p:sp>
        <p:nvSpPr>
          <p:cNvPr id="6" name="object 6"/>
          <p:cNvSpPr txBox="1">
            <a:spLocks noGrp="1"/>
          </p:cNvSpPr>
          <p:nvPr>
            <p:ph type="title"/>
          </p:nvPr>
        </p:nvSpPr>
        <p:spPr>
          <a:xfrm>
            <a:off x="2209800" y="2438400"/>
            <a:ext cx="4930140" cy="1348740"/>
          </a:xfrm>
          <a:prstGeom prst="rect">
            <a:avLst/>
          </a:prstGeom>
        </p:spPr>
        <p:txBody>
          <a:bodyPr vert="horz" wrap="square" lIns="0" tIns="0" rIns="0" bIns="0" rtlCol="0">
            <a:spAutoFit/>
          </a:bodyPr>
          <a:lstStyle/>
          <a:p>
            <a:pPr marL="12700">
              <a:lnSpc>
                <a:spcPct val="100000"/>
              </a:lnSpc>
            </a:pPr>
            <a:r>
              <a:rPr lang="en-IN" sz="8800" b="0" u="none" spc="-5" dirty="0">
                <a:latin typeface="Times New Roman" panose="02020603050405020304"/>
                <a:cs typeface="Times New Roman" panose="02020603050405020304"/>
              </a:rPr>
              <a:t>Thank</a:t>
            </a:r>
            <a:r>
              <a:rPr lang="en-IN" sz="8800" b="0" u="none" spc="-420" dirty="0">
                <a:latin typeface="Times New Roman" panose="02020603050405020304"/>
                <a:cs typeface="Times New Roman" panose="02020603050405020304"/>
              </a:rPr>
              <a:t> </a:t>
            </a:r>
            <a:r>
              <a:rPr lang="en-IN" sz="8800" b="0" u="none" spc="-295" dirty="0">
                <a:latin typeface="Times New Roman" panose="02020603050405020304"/>
                <a:cs typeface="Times New Roman" panose="02020603050405020304"/>
              </a:rPr>
              <a:t>You</a:t>
            </a:r>
            <a:endParaRPr lang="en-IN" sz="8800" dirty="0">
              <a:latin typeface="Times New Roman" panose="02020603050405020304"/>
              <a:cs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TotalTime>
  <Words>3118</Words>
  <Application>Microsoft Office PowerPoint</Application>
  <PresentationFormat>On-screen Show (4:3)</PresentationFormat>
  <Paragraphs>332</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Perpetua</vt:lpstr>
      <vt:lpstr>Times New Roman</vt:lpstr>
      <vt:lpstr>Office Theme</vt:lpstr>
      <vt:lpstr>Design And Development of Drinking Water Quality alert System With Voice Announcement for Remote Areas   </vt:lpstr>
      <vt:lpstr>Contents :</vt:lpstr>
      <vt:lpstr>i. Abstract:</vt:lpstr>
      <vt:lpstr>PowerPoint Presentation</vt:lpstr>
      <vt:lpstr>PowerPoint Presentation</vt:lpstr>
      <vt:lpstr>PowerPoint Presentation</vt:lpstr>
      <vt:lpstr>2. System Analysis  </vt:lpstr>
      <vt:lpstr>PowerPoint Presentation</vt:lpstr>
      <vt:lpstr>PowerPoint Presentation</vt:lpstr>
      <vt:lpstr>PowerPoint Presentation</vt:lpstr>
      <vt:lpstr>PowerPoint Presentation</vt:lpstr>
      <vt:lpstr>PowerPoint Presentation</vt:lpstr>
      <vt:lpstr>2.4 Feasibility Study:  2.4.1 Technical Feasibility:  </vt:lpstr>
      <vt:lpstr>PowerPoint Presentation</vt:lpstr>
      <vt:lpstr>3.Architectural Design </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RESULT</vt:lpstr>
      <vt:lpstr>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CMR</dc:creator>
  <cp:lastModifiedBy>Atla Haresh kumar</cp:lastModifiedBy>
  <cp:revision>379</cp:revision>
  <dcterms:created xsi:type="dcterms:W3CDTF">2017-08-30T15:02:00Z</dcterms:created>
  <dcterms:modified xsi:type="dcterms:W3CDTF">2026-04-20T15:42:02Z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2017-08-30T05:30:00Z</vt:filetime>
  </property>
  <property fmtid="{D5CDD505-2E9C-101B-9397-08002B2CF9AE}" pid="3" name="Creator">
    <vt:lpwstr>Microsoft® PowerPoint® 2013</vt:lpwstr>
  </property>
  <property fmtid="{D5CDD505-2E9C-101B-9397-08002B2CF9AE}" pid="4" name="LastSaved">
    <vt:filetime>2017-08-30T05:30:00Z</vt:filetime>
  </property>
  <property fmtid="{D5CDD505-2E9C-101B-9397-08002B2CF9AE}" pid="5" name="ICV">
    <vt:lpwstr>A03F2FBF572A4216B04928238027A24F_13</vt:lpwstr>
  </property>
  <property fmtid="{D5CDD505-2E9C-101B-9397-08002B2CF9AE}" pid="6" name="KSOProductBuildVer">
    <vt:lpwstr>1033-12.2.0.20326</vt:lpwstr>
  </property>
</Properties>
</file>